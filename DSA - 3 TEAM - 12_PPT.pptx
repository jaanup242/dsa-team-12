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B2B2B"/>
                </a:solidFill>
                <a:latin typeface="Arial"/>
              </a:defRPr>
            </a:pPr>
            <a:r>
              <a:rPr sz="1200" b="0" i="0" u="none" strike="noStrike">
                <a:solidFill>
                  <a:srgbClr val="2B2B2B"/>
                </a:solidFill>
                <a:latin typeface="Arial"/>
              </a:rPr>
              <a:t>Execution time (ms, log scale)</a:t>
            </a:r>
          </a:p>
        </c:rich>
      </c:tx>
      <c:layout/>
      <c:overlay val="0"/>
    </c:title>
    <c:autoTitleDeleted val="0"/>
    <c:plotArea>
      <c:layout/>
      <c:lineChart>
        <c:varyColors val="0"/>
        <c:ser>
          <c:idx val="0"/>
          <c:order val="0"/>
          <c:tx>
            <c:strRef>
              <c:f>Sheet1!$B$1</c:f>
              <c:strCache>
                <c:ptCount val="1"/>
                <c:pt idx="0">
                  <c:v>Naive</c:v>
                </c:pt>
              </c:strCache>
            </c:strRef>
          </c:tx>
          <c:spPr>
            <a:solidFill>
              <a:srgbClr val="C00000"/>
            </a:solidFill>
            <a:ln w="38100" cap="flat">
              <a:solidFill>
                <a:srgbClr val="C000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C00000"/>
              </a:solidFill>
              <a:ln w="9525" cap="flat">
                <a:solidFill>
                  <a:srgbClr val="C00000"/>
                </a:solidFill>
                <a:prstDash val="solid"/>
                <a:round/>
              </a:ln>
              <a:effectLst/>
            </c:spPr>
          </c:marker>
          <c:cat>
            <c:multiLvlStrRef>
              <c:f>Sheet1!$A$2:$A$4</c:f>
              <c:multiLvlStrCache>
                <c:ptCount val="3"/>
                <c:lvl>
                  <c:pt idx="0">
                    <c:v>4,000</c:v>
                  </c:pt>
                  <c:pt idx="1">
                    <c:v>8,000</c:v>
                  </c:pt>
                  <c:pt idx="2">
                    <c:v>16,000</c:v>
                  </c:pt>
                </c:lvl>
              </c:multiLvlStrCache>
            </c:multiLvlStrRef>
          </c:cat>
          <c:val>
            <c:numRef>
              <c:f>Sheet1!$B$2:$B$4</c:f>
              <c:numCache>
                <c:formatCode>General</c:formatCode>
                <c:ptCount val="3"/>
                <c:pt idx="0">
                  <c:v>15.15</c:v>
                </c:pt>
                <c:pt idx="1">
                  <c:v>62.15</c:v>
                </c:pt>
                <c:pt idx="2">
                  <c:v>245.98</c:v>
                </c:pt>
              </c:numCache>
            </c:numRef>
          </c:val>
          <c:smooth val="0"/>
        </c:ser>
        <c:ser>
          <c:idx val="1"/>
          <c:order val="1"/>
          <c:tx>
            <c:strRef>
              <c:f>Sheet1!$C$1</c:f>
              <c:strCache>
                <c:ptCount val="1"/>
                <c:pt idx="0">
                  <c:v>Kasai</c:v>
                </c:pt>
              </c:strCache>
            </c:strRef>
          </c:tx>
          <c:spPr>
            <a:solidFill>
              <a:srgbClr val="2B2B2B"/>
            </a:solidFill>
            <a:ln w="38100" cap="flat">
              <a:solidFill>
                <a:srgbClr val="2B2B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2B2B2B"/>
              </a:solidFill>
              <a:ln w="9525" cap="flat">
                <a:solidFill>
                  <a:srgbClr val="2B2B2B"/>
                </a:solidFill>
                <a:prstDash val="solid"/>
                <a:round/>
              </a:ln>
              <a:effectLst/>
            </c:spPr>
          </c:marker>
          <c:cat>
            <c:multiLvlStrRef>
              <c:f>Sheet1!$A$2:$A$4</c:f>
              <c:multiLvlStrCache>
                <c:ptCount val="3"/>
                <c:lvl>
                  <c:pt idx="0">
                    <c:v>4,000</c:v>
                  </c:pt>
                  <c:pt idx="1">
                    <c:v>8,000</c:v>
                  </c:pt>
                  <c:pt idx="2">
                    <c:v>16,000</c:v>
                  </c:pt>
                </c:lvl>
              </c:multiLvlStrCache>
            </c:multiLvlStrRef>
          </c:cat>
          <c:val>
            <c:numRef>
              <c:f>Sheet1!$C$2:$C$4</c:f>
              <c:numCache>
                <c:formatCode>General</c:formatCode>
                <c:ptCount val="3"/>
                <c:pt idx="0">
                  <c:v>0.026</c:v>
                </c:pt>
                <c:pt idx="1">
                  <c:v>0.048</c:v>
                </c:pt>
                <c:pt idx="2">
                  <c:v>0.094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noMultiLvlLbl val="1"/>
      </c:catAx>
      <c:valAx>
        <c:axId val="2094734552"/>
        <c:scaling>
          <c:logBase val="10"/>
          <c:orientation val="minMax"/>
          <c:max val="1000"/>
          <c:min val="0.01"/>
        </c:scaling>
        <c:delete val="0"/>
        <c:axPos val="l"/>
        <c:majorGridlines>
          <c:spPr>
            <a:ln w="6350" cap="flat">
              <a:solidFill>
                <a:srgbClr val="E5E5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0-1.jp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C00000"/>
        </a:solidFill>
      </p:bgPr>
    </p:bg>
    <p:spTree>
      <p:nvGrpSpPr>
        <p:cNvPr id="1" name=""/>
        <p:cNvGrpSpPr/>
        <p:nvPr/>
      </p:nvGrpSpPr>
      <p:grpSpPr>
        <a:xfrm>
          <a:off x="0" y="0"/>
          <a:ext cx="0" cy="0"/>
          <a:chOff x="0" y="0"/>
          <a:chExt cx="0" cy="0"/>
        </a:xfrm>
      </p:grpSpPr>
      <p:sp>
        <p:nvSpPr>
          <p:cNvPr id="2" name="Shape 0"/>
          <p:cNvSpPr/>
          <p:nvPr/>
        </p:nvSpPr>
        <p:spPr>
          <a:xfrm>
            <a:off x="548640" y="457200"/>
            <a:ext cx="1463040" cy="640080"/>
          </a:xfrm>
          <a:prstGeom prst="roundRect">
            <a:avLst>
              <a:gd name="adj" fmla="val 11429"/>
            </a:avLst>
          </a:prstGeom>
          <a:solidFill>
            <a:srgbClr val="FFFFFF"/>
          </a:solidFill>
          <a:ln w="12700">
            <a:solidFill>
              <a:srgbClr val="FFFFFF"/>
            </a:solidFill>
            <a:prstDash val="solid"/>
          </a:ln>
        </p:spPr>
      </p:sp>
      <p:pic>
        <p:nvPicPr>
          <p:cNvPr id="3" name="Image 0" descr="logo-000.jpg">    </p:cNvPr>
          <p:cNvPicPr>
            <a:picLocks noChangeAspect="1"/>
          </p:cNvPicPr>
          <p:nvPr/>
        </p:nvPicPr>
        <p:blipFill>
          <a:blip r:embed="rId1"/>
          <a:stretch>
            <a:fillRect/>
          </a:stretch>
        </p:blipFill>
        <p:spPr>
          <a:xfrm>
            <a:off x="640080" y="502920"/>
            <a:ext cx="1280160" cy="548640"/>
          </a:xfrm>
          <a:prstGeom prst="rect">
            <a:avLst/>
          </a:prstGeom>
        </p:spPr>
      </p:pic>
      <p:sp>
        <p:nvSpPr>
          <p:cNvPr id="4" name="Text 1"/>
          <p:cNvSpPr txBox="1"/>
          <p:nvPr/>
        </p:nvSpPr>
        <p:spPr>
          <a:xfrm>
            <a:off x="548640" y="1371600"/>
            <a:ext cx="8046720" cy="36576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Data Structures and Algorithms-3 (25CS2103E)</a:t>
            </a:r>
            <a:endParaRPr lang="en-US" sz="1600" dirty="0"/>
          </a:p>
        </p:txBody>
      </p:sp>
      <p:sp>
        <p:nvSpPr>
          <p:cNvPr id="5" name="Text 2"/>
          <p:cNvSpPr txBox="1"/>
          <p:nvPr/>
        </p:nvSpPr>
        <p:spPr>
          <a:xfrm>
            <a:off x="548640" y="1783080"/>
            <a:ext cx="8046720" cy="137160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Efficient Computation of Longest Common Prefix (LCP) Array Using Suffix Arrays</a:t>
            </a:r>
            <a:endParaRPr lang="en-US" sz="2800" dirty="0"/>
          </a:p>
        </p:txBody>
      </p:sp>
      <p:sp>
        <p:nvSpPr>
          <p:cNvPr id="6" name="Text 3"/>
          <p:cNvSpPr txBox="1"/>
          <p:nvPr/>
        </p:nvSpPr>
        <p:spPr>
          <a:xfrm>
            <a:off x="548640" y="3566160"/>
            <a:ext cx="4114800" cy="8229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TanyaSri – 2520030112</a:t>
            </a:r>
            <a:endParaRPr lang="en-US" sz="1400" dirty="0"/>
          </a:p>
          <a:p>
            <a:pPr indent="0" marL="0">
              <a:buNone/>
            </a:pPr>
            <a:r>
              <a:rPr lang="en-US" sz="1400" dirty="0">
                <a:solidFill>
                  <a:srgbClr val="FFFFFF"/>
                </a:solidFill>
                <a:latin typeface="Calibri" pitchFamily="34" charset="0"/>
                <a:ea typeface="Calibri" pitchFamily="34" charset="-122"/>
                <a:cs typeface="Calibri" pitchFamily="34" charset="-120"/>
              </a:rPr>
              <a:t>P. Jaahanavi – 2520030441</a:t>
            </a:r>
            <a:endParaRPr lang="en-US" sz="1400" dirty="0"/>
          </a:p>
          <a:p>
            <a:pPr indent="0" marL="0">
              <a:buNone/>
            </a:pPr>
            <a:r>
              <a:rPr lang="en-US" sz="1400" dirty="0">
                <a:solidFill>
                  <a:srgbClr val="FFFFFF"/>
                </a:solidFill>
                <a:latin typeface="Calibri" pitchFamily="34" charset="0"/>
                <a:ea typeface="Calibri" pitchFamily="34" charset="-122"/>
                <a:cs typeface="Calibri" pitchFamily="34" charset="-120"/>
              </a:rPr>
              <a:t>Noor Ul Huda – 2520030240</a:t>
            </a:r>
            <a:endParaRPr lang="en-US" sz="1400" dirty="0"/>
          </a:p>
        </p:txBody>
      </p:sp>
      <p:sp>
        <p:nvSpPr>
          <p:cNvPr id="7" name="Text 4"/>
          <p:cNvSpPr txBox="1"/>
          <p:nvPr/>
        </p:nvSpPr>
        <p:spPr>
          <a:xfrm>
            <a:off x="5120640" y="3566160"/>
            <a:ext cx="3474720" cy="8229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Guide: D. Swathi</a:t>
            </a:r>
            <a:endParaRPr lang="en-US" sz="1400" dirty="0"/>
          </a:p>
          <a:p>
            <a:pPr indent="0" marL="0">
              <a:buNone/>
            </a:pPr>
            <a:r>
              <a:rPr lang="en-US" sz="1400" dirty="0">
                <a:solidFill>
                  <a:srgbClr val="FFFFFF"/>
                </a:solidFill>
                <a:latin typeface="Calibri" pitchFamily="34" charset="0"/>
                <a:ea typeface="Calibri" pitchFamily="34" charset="-122"/>
                <a:cs typeface="Calibri" pitchFamily="34" charset="-120"/>
              </a:rPr>
              <a:t>Assistant Professor, CSE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6949440" cy="548640"/>
          </a:xfrm>
          <a:prstGeom prst="rect">
            <a:avLst/>
          </a:prstGeom>
          <a:noFill/>
          <a:ln/>
        </p:spPr>
        <p:txBody>
          <a:bodyPr wrap="square" lIns="0" tIns="0" rIns="0" bIns="0" rtlCol="0" anchor="ctr"/>
          <a:lstStyle/>
          <a:p>
            <a:pPr indent="0" marL="0">
              <a:buNone/>
            </a:pPr>
            <a:r>
              <a:rPr lang="en-US" sz="2800" b="1" dirty="0">
                <a:solidFill>
                  <a:srgbClr val="C00000"/>
                </a:solidFill>
                <a:latin typeface="Cambria" pitchFamily="34" charset="0"/>
                <a:ea typeface="Cambria" pitchFamily="34" charset="-122"/>
                <a:cs typeface="Cambria" pitchFamily="34" charset="-120"/>
              </a:rPr>
              <a:t>Contents</a:t>
            </a:r>
            <a:endParaRPr lang="en-US" sz="2800" dirty="0"/>
          </a:p>
        </p:txBody>
      </p:sp>
      <p:pic>
        <p:nvPicPr>
          <p:cNvPr id="3" name="Image 0" descr="logo-000.jpg">    </p:cNvPr>
          <p:cNvPicPr>
            <a:picLocks noChangeAspect="1"/>
          </p:cNvPicPr>
          <p:nvPr/>
        </p:nvPicPr>
        <p:blipFill>
          <a:blip r:embed="rId1"/>
          <a:stretch>
            <a:fillRect/>
          </a:stretch>
        </p:blipFill>
        <p:spPr>
          <a:xfrm>
            <a:off x="7772400" y="256032"/>
            <a:ext cx="914400" cy="393192"/>
          </a:xfrm>
          <a:prstGeom prst="rect">
            <a:avLst/>
          </a:prstGeom>
        </p:spPr>
      </p:pic>
      <p:sp>
        <p:nvSpPr>
          <p:cNvPr id="4" name="Text 1"/>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DSA-3 • LCP Array Using Suffix Arrays</a:t>
            </a:r>
            <a:endParaRPr lang="en-US" sz="900" dirty="0"/>
          </a:p>
        </p:txBody>
      </p:sp>
      <p:sp>
        <p:nvSpPr>
          <p:cNvPr id="5" name="Text 2"/>
          <p:cNvSpPr txBox="1"/>
          <p:nvPr/>
        </p:nvSpPr>
        <p:spPr>
          <a:xfrm>
            <a:off x="8138160" y="4800600"/>
            <a:ext cx="548640"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2</a:t>
            </a:r>
            <a:endParaRPr lang="en-US" sz="900" dirty="0"/>
          </a:p>
        </p:txBody>
      </p:sp>
      <p:sp>
        <p:nvSpPr>
          <p:cNvPr id="6" name="Shape 3"/>
          <p:cNvSpPr/>
          <p:nvPr/>
        </p:nvSpPr>
        <p:spPr>
          <a:xfrm>
            <a:off x="457200" y="1097280"/>
            <a:ext cx="4023360" cy="566928"/>
          </a:xfrm>
          <a:prstGeom prst="roundRect">
            <a:avLst>
              <a:gd name="adj" fmla="val 12903"/>
            </a:avLst>
          </a:prstGeom>
          <a:solidFill>
            <a:srgbClr val="FFFFFF"/>
          </a:solidFill>
          <a:ln w="12700">
            <a:solidFill>
              <a:srgbClr val="E6DADA"/>
            </a:solidFill>
            <a:prstDash val="solid"/>
          </a:ln>
        </p:spPr>
      </p:sp>
      <p:sp>
        <p:nvSpPr>
          <p:cNvPr id="7" name="Shape 4"/>
          <p:cNvSpPr/>
          <p:nvPr/>
        </p:nvSpPr>
        <p:spPr>
          <a:xfrm>
            <a:off x="566928" y="1197864"/>
            <a:ext cx="365760" cy="365760"/>
          </a:xfrm>
          <a:prstGeom prst="ellipse">
            <a:avLst/>
          </a:prstGeom>
          <a:solidFill>
            <a:srgbClr val="C00000"/>
          </a:solidFill>
          <a:ln/>
        </p:spPr>
      </p:sp>
      <p:sp>
        <p:nvSpPr>
          <p:cNvPr id="8" name="Text 5"/>
          <p:cNvSpPr txBox="1"/>
          <p:nvPr/>
        </p:nvSpPr>
        <p:spPr>
          <a:xfrm>
            <a:off x="566928" y="119786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txBox="1"/>
          <p:nvPr/>
        </p:nvSpPr>
        <p:spPr>
          <a:xfrm>
            <a:off x="1051560" y="1097280"/>
            <a:ext cx="3337560" cy="566928"/>
          </a:xfrm>
          <a:prstGeom prst="rect">
            <a:avLst/>
          </a:prstGeom>
          <a:noFill/>
          <a:ln/>
        </p:spPr>
        <p:txBody>
          <a:bodyPr wrap="square" lIns="0" tIns="0" rIns="0" bIns="0" rtlCol="0" anchor="ctr"/>
          <a:lstStyle/>
          <a:p>
            <a:pPr indent="0" marL="0">
              <a:buNone/>
            </a:pPr>
            <a:r>
              <a:rPr lang="en-US" sz="1400" dirty="0">
                <a:solidFill>
                  <a:srgbClr val="2B2B2B"/>
                </a:solidFill>
                <a:latin typeface="Calibri" pitchFamily="34" charset="0"/>
                <a:ea typeface="Calibri" pitchFamily="34" charset="-122"/>
                <a:cs typeface="Calibri" pitchFamily="34" charset="-120"/>
              </a:rPr>
              <a:t>Abstract</a:t>
            </a:r>
            <a:endParaRPr lang="en-US" sz="1400" dirty="0"/>
          </a:p>
        </p:txBody>
      </p:sp>
      <p:sp>
        <p:nvSpPr>
          <p:cNvPr id="10" name="Shape 7"/>
          <p:cNvSpPr/>
          <p:nvPr/>
        </p:nvSpPr>
        <p:spPr>
          <a:xfrm>
            <a:off x="457200" y="1810512"/>
            <a:ext cx="4023360" cy="566928"/>
          </a:xfrm>
          <a:prstGeom prst="roundRect">
            <a:avLst>
              <a:gd name="adj" fmla="val 12903"/>
            </a:avLst>
          </a:prstGeom>
          <a:solidFill>
            <a:srgbClr val="FFFFFF"/>
          </a:solidFill>
          <a:ln w="12700">
            <a:solidFill>
              <a:srgbClr val="E6DADA"/>
            </a:solidFill>
            <a:prstDash val="solid"/>
          </a:ln>
        </p:spPr>
      </p:sp>
      <p:sp>
        <p:nvSpPr>
          <p:cNvPr id="11" name="Shape 8"/>
          <p:cNvSpPr/>
          <p:nvPr/>
        </p:nvSpPr>
        <p:spPr>
          <a:xfrm>
            <a:off x="566928" y="1911096"/>
            <a:ext cx="365760" cy="365760"/>
          </a:xfrm>
          <a:prstGeom prst="ellipse">
            <a:avLst/>
          </a:prstGeom>
          <a:solidFill>
            <a:srgbClr val="C00000"/>
          </a:solidFill>
          <a:ln/>
        </p:spPr>
      </p:sp>
      <p:sp>
        <p:nvSpPr>
          <p:cNvPr id="12" name="Text 9"/>
          <p:cNvSpPr txBox="1"/>
          <p:nvPr/>
        </p:nvSpPr>
        <p:spPr>
          <a:xfrm>
            <a:off x="566928" y="191109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txBox="1"/>
          <p:nvPr/>
        </p:nvSpPr>
        <p:spPr>
          <a:xfrm>
            <a:off x="1051560" y="1810512"/>
            <a:ext cx="3337560" cy="566928"/>
          </a:xfrm>
          <a:prstGeom prst="rect">
            <a:avLst/>
          </a:prstGeom>
          <a:noFill/>
          <a:ln/>
        </p:spPr>
        <p:txBody>
          <a:bodyPr wrap="square" lIns="0" tIns="0" rIns="0" bIns="0" rtlCol="0" anchor="ctr"/>
          <a:lstStyle/>
          <a:p>
            <a:pPr indent="0" marL="0">
              <a:buNone/>
            </a:pPr>
            <a:r>
              <a:rPr lang="en-US" sz="1400" dirty="0">
                <a:solidFill>
                  <a:srgbClr val="2B2B2B"/>
                </a:solidFill>
                <a:latin typeface="Calibri" pitchFamily="34" charset="0"/>
                <a:ea typeface="Calibri" pitchFamily="34" charset="-122"/>
                <a:cs typeface="Calibri" pitchFamily="34" charset="-120"/>
              </a:rPr>
              <a:t>Introduction</a:t>
            </a:r>
            <a:endParaRPr lang="en-US" sz="1400" dirty="0"/>
          </a:p>
        </p:txBody>
      </p:sp>
      <p:sp>
        <p:nvSpPr>
          <p:cNvPr id="14" name="Shape 11"/>
          <p:cNvSpPr/>
          <p:nvPr/>
        </p:nvSpPr>
        <p:spPr>
          <a:xfrm>
            <a:off x="457200" y="2523744"/>
            <a:ext cx="4023360" cy="566928"/>
          </a:xfrm>
          <a:prstGeom prst="roundRect">
            <a:avLst>
              <a:gd name="adj" fmla="val 12903"/>
            </a:avLst>
          </a:prstGeom>
          <a:solidFill>
            <a:srgbClr val="FFFFFF"/>
          </a:solidFill>
          <a:ln w="12700">
            <a:solidFill>
              <a:srgbClr val="E6DADA"/>
            </a:solidFill>
            <a:prstDash val="solid"/>
          </a:ln>
        </p:spPr>
      </p:sp>
      <p:sp>
        <p:nvSpPr>
          <p:cNvPr id="15" name="Shape 12"/>
          <p:cNvSpPr/>
          <p:nvPr/>
        </p:nvSpPr>
        <p:spPr>
          <a:xfrm>
            <a:off x="566928" y="2624328"/>
            <a:ext cx="365760" cy="365760"/>
          </a:xfrm>
          <a:prstGeom prst="ellipse">
            <a:avLst/>
          </a:prstGeom>
          <a:solidFill>
            <a:srgbClr val="C00000"/>
          </a:solidFill>
          <a:ln/>
        </p:spPr>
      </p:sp>
      <p:sp>
        <p:nvSpPr>
          <p:cNvPr id="16" name="Text 13"/>
          <p:cNvSpPr txBox="1"/>
          <p:nvPr/>
        </p:nvSpPr>
        <p:spPr>
          <a:xfrm>
            <a:off x="566928" y="26243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4"/>
          <p:cNvSpPr txBox="1"/>
          <p:nvPr/>
        </p:nvSpPr>
        <p:spPr>
          <a:xfrm>
            <a:off x="1051560" y="2523744"/>
            <a:ext cx="3337560" cy="566928"/>
          </a:xfrm>
          <a:prstGeom prst="rect">
            <a:avLst/>
          </a:prstGeom>
          <a:noFill/>
          <a:ln/>
        </p:spPr>
        <p:txBody>
          <a:bodyPr wrap="square" lIns="0" tIns="0" rIns="0" bIns="0" rtlCol="0" anchor="ctr"/>
          <a:lstStyle/>
          <a:p>
            <a:pPr indent="0" marL="0">
              <a:buNone/>
            </a:pPr>
            <a:r>
              <a:rPr lang="en-US" sz="1400" dirty="0">
                <a:solidFill>
                  <a:srgbClr val="2B2B2B"/>
                </a:solidFill>
                <a:latin typeface="Calibri" pitchFamily="34" charset="0"/>
                <a:ea typeface="Calibri" pitchFamily="34" charset="-122"/>
                <a:cs typeface="Calibri" pitchFamily="34" charset="-120"/>
              </a:rPr>
              <a:t>Literature Survey</a:t>
            </a:r>
            <a:endParaRPr lang="en-US" sz="1400" dirty="0"/>
          </a:p>
        </p:txBody>
      </p:sp>
      <p:sp>
        <p:nvSpPr>
          <p:cNvPr id="18" name="Shape 15"/>
          <p:cNvSpPr/>
          <p:nvPr/>
        </p:nvSpPr>
        <p:spPr>
          <a:xfrm>
            <a:off x="457200" y="3236976"/>
            <a:ext cx="4023360" cy="566928"/>
          </a:xfrm>
          <a:prstGeom prst="roundRect">
            <a:avLst>
              <a:gd name="adj" fmla="val 12903"/>
            </a:avLst>
          </a:prstGeom>
          <a:solidFill>
            <a:srgbClr val="FFFFFF"/>
          </a:solidFill>
          <a:ln w="12700">
            <a:solidFill>
              <a:srgbClr val="E6DADA"/>
            </a:solidFill>
            <a:prstDash val="solid"/>
          </a:ln>
        </p:spPr>
      </p:sp>
      <p:sp>
        <p:nvSpPr>
          <p:cNvPr id="19" name="Shape 16"/>
          <p:cNvSpPr/>
          <p:nvPr/>
        </p:nvSpPr>
        <p:spPr>
          <a:xfrm>
            <a:off x="566928" y="3337560"/>
            <a:ext cx="365760" cy="365760"/>
          </a:xfrm>
          <a:prstGeom prst="ellipse">
            <a:avLst/>
          </a:prstGeom>
          <a:solidFill>
            <a:srgbClr val="C00000"/>
          </a:solidFill>
          <a:ln/>
        </p:spPr>
      </p:sp>
      <p:sp>
        <p:nvSpPr>
          <p:cNvPr id="20" name="Text 17"/>
          <p:cNvSpPr txBox="1"/>
          <p:nvPr/>
        </p:nvSpPr>
        <p:spPr>
          <a:xfrm>
            <a:off x="566928" y="33375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8"/>
          <p:cNvSpPr txBox="1"/>
          <p:nvPr/>
        </p:nvSpPr>
        <p:spPr>
          <a:xfrm>
            <a:off x="1051560" y="3236976"/>
            <a:ext cx="3337560" cy="566928"/>
          </a:xfrm>
          <a:prstGeom prst="rect">
            <a:avLst/>
          </a:prstGeom>
          <a:noFill/>
          <a:ln/>
        </p:spPr>
        <p:txBody>
          <a:bodyPr wrap="square" lIns="0" tIns="0" rIns="0" bIns="0" rtlCol="0" anchor="ctr"/>
          <a:lstStyle/>
          <a:p>
            <a:pPr indent="0" marL="0">
              <a:buNone/>
            </a:pPr>
            <a:r>
              <a:rPr lang="en-US" sz="1400" dirty="0">
                <a:solidFill>
                  <a:srgbClr val="2B2B2B"/>
                </a:solidFill>
                <a:latin typeface="Calibri" pitchFamily="34" charset="0"/>
                <a:ea typeface="Calibri" pitchFamily="34" charset="-122"/>
                <a:cs typeface="Calibri" pitchFamily="34" charset="-120"/>
              </a:rPr>
              <a:t>Problem Statement &amp; Objectives</a:t>
            </a:r>
            <a:endParaRPr lang="en-US" sz="1400" dirty="0"/>
          </a:p>
        </p:txBody>
      </p:sp>
      <p:sp>
        <p:nvSpPr>
          <p:cNvPr id="22" name="Shape 19"/>
          <p:cNvSpPr/>
          <p:nvPr/>
        </p:nvSpPr>
        <p:spPr>
          <a:xfrm>
            <a:off x="457200" y="3950208"/>
            <a:ext cx="4023360" cy="566928"/>
          </a:xfrm>
          <a:prstGeom prst="roundRect">
            <a:avLst>
              <a:gd name="adj" fmla="val 12903"/>
            </a:avLst>
          </a:prstGeom>
          <a:solidFill>
            <a:srgbClr val="FFFFFF"/>
          </a:solidFill>
          <a:ln w="12700">
            <a:solidFill>
              <a:srgbClr val="E6DADA"/>
            </a:solidFill>
            <a:prstDash val="solid"/>
          </a:ln>
        </p:spPr>
      </p:sp>
      <p:sp>
        <p:nvSpPr>
          <p:cNvPr id="23" name="Shape 20"/>
          <p:cNvSpPr/>
          <p:nvPr/>
        </p:nvSpPr>
        <p:spPr>
          <a:xfrm>
            <a:off x="566928" y="4050792"/>
            <a:ext cx="365760" cy="365760"/>
          </a:xfrm>
          <a:prstGeom prst="ellipse">
            <a:avLst/>
          </a:prstGeom>
          <a:solidFill>
            <a:srgbClr val="C00000"/>
          </a:solidFill>
          <a:ln/>
        </p:spPr>
      </p:sp>
      <p:sp>
        <p:nvSpPr>
          <p:cNvPr id="24" name="Text 21"/>
          <p:cNvSpPr txBox="1"/>
          <p:nvPr/>
        </p:nvSpPr>
        <p:spPr>
          <a:xfrm>
            <a:off x="566928" y="405079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5" name="Text 22"/>
          <p:cNvSpPr txBox="1"/>
          <p:nvPr/>
        </p:nvSpPr>
        <p:spPr>
          <a:xfrm>
            <a:off x="1051560" y="3950208"/>
            <a:ext cx="3337560" cy="566928"/>
          </a:xfrm>
          <a:prstGeom prst="rect">
            <a:avLst/>
          </a:prstGeom>
          <a:noFill/>
          <a:ln/>
        </p:spPr>
        <p:txBody>
          <a:bodyPr wrap="square" lIns="0" tIns="0" rIns="0" bIns="0" rtlCol="0" anchor="ctr"/>
          <a:lstStyle/>
          <a:p>
            <a:pPr indent="0" marL="0">
              <a:buNone/>
            </a:pPr>
            <a:r>
              <a:rPr lang="en-US" sz="1400" dirty="0">
                <a:solidFill>
                  <a:srgbClr val="2B2B2B"/>
                </a:solidFill>
                <a:latin typeface="Calibri" pitchFamily="34" charset="0"/>
                <a:ea typeface="Calibri" pitchFamily="34" charset="-122"/>
                <a:cs typeface="Calibri" pitchFamily="34" charset="-120"/>
              </a:rPr>
              <a:t>Implementation (Code Snippets)</a:t>
            </a:r>
            <a:endParaRPr lang="en-US" sz="1400" dirty="0"/>
          </a:p>
        </p:txBody>
      </p:sp>
      <p:sp>
        <p:nvSpPr>
          <p:cNvPr id="26" name="Shape 23"/>
          <p:cNvSpPr/>
          <p:nvPr/>
        </p:nvSpPr>
        <p:spPr>
          <a:xfrm>
            <a:off x="4663440" y="1097280"/>
            <a:ext cx="4023360" cy="566928"/>
          </a:xfrm>
          <a:prstGeom prst="roundRect">
            <a:avLst>
              <a:gd name="adj" fmla="val 12903"/>
            </a:avLst>
          </a:prstGeom>
          <a:solidFill>
            <a:srgbClr val="FFFFFF"/>
          </a:solidFill>
          <a:ln w="12700">
            <a:solidFill>
              <a:srgbClr val="E6DADA"/>
            </a:solidFill>
            <a:prstDash val="solid"/>
          </a:ln>
        </p:spPr>
      </p:sp>
      <p:sp>
        <p:nvSpPr>
          <p:cNvPr id="27" name="Shape 24"/>
          <p:cNvSpPr/>
          <p:nvPr/>
        </p:nvSpPr>
        <p:spPr>
          <a:xfrm>
            <a:off x="4773168" y="1197864"/>
            <a:ext cx="365760" cy="365760"/>
          </a:xfrm>
          <a:prstGeom prst="ellipse">
            <a:avLst/>
          </a:prstGeom>
          <a:solidFill>
            <a:srgbClr val="C00000"/>
          </a:solidFill>
          <a:ln/>
        </p:spPr>
      </p:sp>
      <p:sp>
        <p:nvSpPr>
          <p:cNvPr id="28" name="Text 25"/>
          <p:cNvSpPr txBox="1"/>
          <p:nvPr/>
        </p:nvSpPr>
        <p:spPr>
          <a:xfrm>
            <a:off x="4773168" y="119786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9" name="Text 26"/>
          <p:cNvSpPr txBox="1"/>
          <p:nvPr/>
        </p:nvSpPr>
        <p:spPr>
          <a:xfrm>
            <a:off x="5257800" y="1097280"/>
            <a:ext cx="3337560" cy="566928"/>
          </a:xfrm>
          <a:prstGeom prst="rect">
            <a:avLst/>
          </a:prstGeom>
          <a:noFill/>
          <a:ln/>
        </p:spPr>
        <p:txBody>
          <a:bodyPr wrap="square" lIns="0" tIns="0" rIns="0" bIns="0" rtlCol="0" anchor="ctr"/>
          <a:lstStyle/>
          <a:p>
            <a:pPr indent="0" marL="0">
              <a:buNone/>
            </a:pPr>
            <a:r>
              <a:rPr lang="en-US" sz="1400" dirty="0">
                <a:solidFill>
                  <a:srgbClr val="2B2B2B"/>
                </a:solidFill>
                <a:latin typeface="Calibri" pitchFamily="34" charset="0"/>
                <a:ea typeface="Calibri" pitchFamily="34" charset="-122"/>
                <a:cs typeface="Calibri" pitchFamily="34" charset="-120"/>
              </a:rPr>
              <a:t>Results (Outputs &amp; Performance)</a:t>
            </a:r>
            <a:endParaRPr lang="en-US" sz="1400" dirty="0"/>
          </a:p>
        </p:txBody>
      </p:sp>
      <p:sp>
        <p:nvSpPr>
          <p:cNvPr id="30" name="Shape 27"/>
          <p:cNvSpPr/>
          <p:nvPr/>
        </p:nvSpPr>
        <p:spPr>
          <a:xfrm>
            <a:off x="4663440" y="1810512"/>
            <a:ext cx="4023360" cy="566928"/>
          </a:xfrm>
          <a:prstGeom prst="roundRect">
            <a:avLst>
              <a:gd name="adj" fmla="val 12903"/>
            </a:avLst>
          </a:prstGeom>
          <a:solidFill>
            <a:srgbClr val="FFFFFF"/>
          </a:solidFill>
          <a:ln w="12700">
            <a:solidFill>
              <a:srgbClr val="E6DADA"/>
            </a:solidFill>
            <a:prstDash val="solid"/>
          </a:ln>
        </p:spPr>
      </p:sp>
      <p:sp>
        <p:nvSpPr>
          <p:cNvPr id="31" name="Shape 28"/>
          <p:cNvSpPr/>
          <p:nvPr/>
        </p:nvSpPr>
        <p:spPr>
          <a:xfrm>
            <a:off x="4773168" y="1911096"/>
            <a:ext cx="365760" cy="365760"/>
          </a:xfrm>
          <a:prstGeom prst="ellipse">
            <a:avLst/>
          </a:prstGeom>
          <a:solidFill>
            <a:srgbClr val="C00000"/>
          </a:solidFill>
          <a:ln/>
        </p:spPr>
      </p:sp>
      <p:sp>
        <p:nvSpPr>
          <p:cNvPr id="32" name="Text 29"/>
          <p:cNvSpPr txBox="1"/>
          <p:nvPr/>
        </p:nvSpPr>
        <p:spPr>
          <a:xfrm>
            <a:off x="4773168" y="191109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3" name="Text 30"/>
          <p:cNvSpPr txBox="1"/>
          <p:nvPr/>
        </p:nvSpPr>
        <p:spPr>
          <a:xfrm>
            <a:off x="5257800" y="1810512"/>
            <a:ext cx="3337560" cy="566928"/>
          </a:xfrm>
          <a:prstGeom prst="rect">
            <a:avLst/>
          </a:prstGeom>
          <a:noFill/>
          <a:ln/>
        </p:spPr>
        <p:txBody>
          <a:bodyPr wrap="square" lIns="0" tIns="0" rIns="0" bIns="0" rtlCol="0" anchor="ctr"/>
          <a:lstStyle/>
          <a:p>
            <a:pPr indent="0" marL="0">
              <a:buNone/>
            </a:pPr>
            <a:r>
              <a:rPr lang="en-US" sz="1400" dirty="0">
                <a:solidFill>
                  <a:srgbClr val="2B2B2B"/>
                </a:solidFill>
                <a:latin typeface="Calibri" pitchFamily="34" charset="0"/>
                <a:ea typeface="Calibri" pitchFamily="34" charset="-122"/>
                <a:cs typeface="Calibri" pitchFamily="34" charset="-120"/>
              </a:rPr>
              <a:t>Hardware &amp; Software Requirements</a:t>
            </a:r>
            <a:endParaRPr lang="en-US" sz="1400" dirty="0"/>
          </a:p>
        </p:txBody>
      </p:sp>
      <p:sp>
        <p:nvSpPr>
          <p:cNvPr id="34" name="Shape 31"/>
          <p:cNvSpPr/>
          <p:nvPr/>
        </p:nvSpPr>
        <p:spPr>
          <a:xfrm>
            <a:off x="4663440" y="2523744"/>
            <a:ext cx="4023360" cy="566928"/>
          </a:xfrm>
          <a:prstGeom prst="roundRect">
            <a:avLst>
              <a:gd name="adj" fmla="val 12903"/>
            </a:avLst>
          </a:prstGeom>
          <a:solidFill>
            <a:srgbClr val="FFFFFF"/>
          </a:solidFill>
          <a:ln w="12700">
            <a:solidFill>
              <a:srgbClr val="E6DADA"/>
            </a:solidFill>
            <a:prstDash val="solid"/>
          </a:ln>
        </p:spPr>
      </p:sp>
      <p:sp>
        <p:nvSpPr>
          <p:cNvPr id="35" name="Shape 32"/>
          <p:cNvSpPr/>
          <p:nvPr/>
        </p:nvSpPr>
        <p:spPr>
          <a:xfrm>
            <a:off x="4773168" y="2624328"/>
            <a:ext cx="365760" cy="365760"/>
          </a:xfrm>
          <a:prstGeom prst="ellipse">
            <a:avLst/>
          </a:prstGeom>
          <a:solidFill>
            <a:srgbClr val="C00000"/>
          </a:solidFill>
          <a:ln/>
        </p:spPr>
      </p:sp>
      <p:sp>
        <p:nvSpPr>
          <p:cNvPr id="36" name="Text 33"/>
          <p:cNvSpPr txBox="1"/>
          <p:nvPr/>
        </p:nvSpPr>
        <p:spPr>
          <a:xfrm>
            <a:off x="4773168" y="26243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37" name="Text 34"/>
          <p:cNvSpPr txBox="1"/>
          <p:nvPr/>
        </p:nvSpPr>
        <p:spPr>
          <a:xfrm>
            <a:off x="5257800" y="2523744"/>
            <a:ext cx="3337560" cy="566928"/>
          </a:xfrm>
          <a:prstGeom prst="rect">
            <a:avLst/>
          </a:prstGeom>
          <a:noFill/>
          <a:ln/>
        </p:spPr>
        <p:txBody>
          <a:bodyPr wrap="square" lIns="0" tIns="0" rIns="0" bIns="0" rtlCol="0" anchor="ctr"/>
          <a:lstStyle/>
          <a:p>
            <a:pPr indent="0" marL="0">
              <a:buNone/>
            </a:pPr>
            <a:r>
              <a:rPr lang="en-US" sz="1400" dirty="0">
                <a:solidFill>
                  <a:srgbClr val="2B2B2B"/>
                </a:solidFill>
                <a:latin typeface="Calibri" pitchFamily="34" charset="0"/>
                <a:ea typeface="Calibri" pitchFamily="34" charset="-122"/>
                <a:cs typeface="Calibri" pitchFamily="34" charset="-120"/>
              </a:rPr>
              <a:t>Conclusion</a:t>
            </a:r>
            <a:endParaRPr lang="en-US" sz="1400" dirty="0"/>
          </a:p>
        </p:txBody>
      </p:sp>
      <p:sp>
        <p:nvSpPr>
          <p:cNvPr id="38" name="Shape 35"/>
          <p:cNvSpPr/>
          <p:nvPr/>
        </p:nvSpPr>
        <p:spPr>
          <a:xfrm>
            <a:off x="4663440" y="3236976"/>
            <a:ext cx="4023360" cy="566928"/>
          </a:xfrm>
          <a:prstGeom prst="roundRect">
            <a:avLst>
              <a:gd name="adj" fmla="val 12903"/>
            </a:avLst>
          </a:prstGeom>
          <a:solidFill>
            <a:srgbClr val="FFFFFF"/>
          </a:solidFill>
          <a:ln w="12700">
            <a:solidFill>
              <a:srgbClr val="E6DADA"/>
            </a:solidFill>
            <a:prstDash val="solid"/>
          </a:ln>
        </p:spPr>
      </p:sp>
      <p:sp>
        <p:nvSpPr>
          <p:cNvPr id="39" name="Shape 36"/>
          <p:cNvSpPr/>
          <p:nvPr/>
        </p:nvSpPr>
        <p:spPr>
          <a:xfrm>
            <a:off x="4773168" y="3337560"/>
            <a:ext cx="365760" cy="365760"/>
          </a:xfrm>
          <a:prstGeom prst="ellipse">
            <a:avLst/>
          </a:prstGeom>
          <a:solidFill>
            <a:srgbClr val="C00000"/>
          </a:solidFill>
          <a:ln/>
        </p:spPr>
      </p:sp>
      <p:sp>
        <p:nvSpPr>
          <p:cNvPr id="40" name="Text 37"/>
          <p:cNvSpPr txBox="1"/>
          <p:nvPr/>
        </p:nvSpPr>
        <p:spPr>
          <a:xfrm>
            <a:off x="4773168" y="33375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41" name="Text 38"/>
          <p:cNvSpPr txBox="1"/>
          <p:nvPr/>
        </p:nvSpPr>
        <p:spPr>
          <a:xfrm>
            <a:off x="5257800" y="3236976"/>
            <a:ext cx="3337560" cy="566928"/>
          </a:xfrm>
          <a:prstGeom prst="rect">
            <a:avLst/>
          </a:prstGeom>
          <a:noFill/>
          <a:ln/>
        </p:spPr>
        <p:txBody>
          <a:bodyPr wrap="square" lIns="0" tIns="0" rIns="0" bIns="0" rtlCol="0" anchor="ctr"/>
          <a:lstStyle/>
          <a:p>
            <a:pPr indent="0" marL="0">
              <a:buNone/>
            </a:pPr>
            <a:r>
              <a:rPr lang="en-US" sz="1400" dirty="0">
                <a:solidFill>
                  <a:srgbClr val="2B2B2B"/>
                </a:solidFill>
                <a:latin typeface="Calibri" pitchFamily="34" charset="0"/>
                <a:ea typeface="Calibri" pitchFamily="34" charset="-122"/>
                <a:cs typeface="Calibri" pitchFamily="34" charset="-120"/>
              </a:rPr>
              <a:t>Future Scope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6949440" cy="548640"/>
          </a:xfrm>
          <a:prstGeom prst="rect">
            <a:avLst/>
          </a:prstGeom>
          <a:noFill/>
          <a:ln/>
        </p:spPr>
        <p:txBody>
          <a:bodyPr wrap="square" lIns="0" tIns="0" rIns="0" bIns="0" rtlCol="0" anchor="ctr"/>
          <a:lstStyle/>
          <a:p>
            <a:pPr indent="0" marL="0">
              <a:buNone/>
            </a:pPr>
            <a:r>
              <a:rPr lang="en-US" sz="2800" b="1" dirty="0">
                <a:solidFill>
                  <a:srgbClr val="C00000"/>
                </a:solidFill>
                <a:latin typeface="Cambria" pitchFamily="34" charset="0"/>
                <a:ea typeface="Cambria" pitchFamily="34" charset="-122"/>
                <a:cs typeface="Cambria" pitchFamily="34" charset="-120"/>
              </a:rPr>
              <a:t>Abstract</a:t>
            </a:r>
            <a:endParaRPr lang="en-US" sz="2800" dirty="0"/>
          </a:p>
        </p:txBody>
      </p:sp>
      <p:pic>
        <p:nvPicPr>
          <p:cNvPr id="3" name="Image 0" descr="logo-000.jpg">    </p:cNvPr>
          <p:cNvPicPr>
            <a:picLocks noChangeAspect="1"/>
          </p:cNvPicPr>
          <p:nvPr/>
        </p:nvPicPr>
        <p:blipFill>
          <a:blip r:embed="rId1"/>
          <a:stretch>
            <a:fillRect/>
          </a:stretch>
        </p:blipFill>
        <p:spPr>
          <a:xfrm>
            <a:off x="7772400" y="256032"/>
            <a:ext cx="914400" cy="393192"/>
          </a:xfrm>
          <a:prstGeom prst="rect">
            <a:avLst/>
          </a:prstGeom>
        </p:spPr>
      </p:pic>
      <p:sp>
        <p:nvSpPr>
          <p:cNvPr id="4" name="Text 1"/>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DSA-3 • LCP Array Using Suffix Arrays</a:t>
            </a:r>
            <a:endParaRPr lang="en-US" sz="900" dirty="0"/>
          </a:p>
        </p:txBody>
      </p:sp>
      <p:sp>
        <p:nvSpPr>
          <p:cNvPr id="5" name="Text 2"/>
          <p:cNvSpPr txBox="1"/>
          <p:nvPr/>
        </p:nvSpPr>
        <p:spPr>
          <a:xfrm>
            <a:off x="8138160" y="4800600"/>
            <a:ext cx="548640"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3</a:t>
            </a:r>
            <a:endParaRPr lang="en-US" sz="900" dirty="0"/>
          </a:p>
        </p:txBody>
      </p:sp>
      <p:sp>
        <p:nvSpPr>
          <p:cNvPr id="6" name="Text 3"/>
          <p:cNvSpPr txBox="1"/>
          <p:nvPr/>
        </p:nvSpPr>
        <p:spPr>
          <a:xfrm>
            <a:off x="457200" y="1097280"/>
            <a:ext cx="5029200" cy="3474720"/>
          </a:xfrm>
          <a:prstGeom prst="rect">
            <a:avLst/>
          </a:prstGeom>
          <a:noFill/>
          <a:ln/>
        </p:spPr>
        <p:txBody>
          <a:bodyPr wrap="square" lIns="0" tIns="0" rIns="0" bIns="0" rtlCol="0" anchor="t"/>
          <a:lstStyle/>
          <a:p>
            <a:pPr algn="just" indent="0" marL="0">
              <a:buNone/>
            </a:pPr>
            <a:r>
              <a:rPr lang="en-US" sz="1350" dirty="0">
                <a:solidFill>
                  <a:srgbClr val="2B2B2B"/>
                </a:solidFill>
                <a:latin typeface="Calibri" pitchFamily="34" charset="0"/>
                <a:ea typeface="Calibri" pitchFamily="34" charset="-122"/>
                <a:cs typeface="Calibri" pitchFamily="34" charset="-120"/>
              </a:rPr>
              <a:t>The proposed system implements an efficient method to compute the Longest Common Prefix (LCP) array from a given suffix array. The LCP array stores the length of the longest common prefix between every pair of adjacent suffixes arranged in lexicographical order. The system generates the suffix array and its corresponding LCP array, presenting both clearly for visualization and analysis, and helps identify repeated patterns and common prefixes within a text. To evaluate efficiency, it compares the execution time of Kasai’s optimized method with a naïve approach that compares adjacent suffixes character by character. The application is useful in text processing, data compression, pattern matching, information retrieval and text analytics.</a:t>
            </a:r>
            <a:endParaRPr lang="en-US" sz="1350" dirty="0"/>
          </a:p>
        </p:txBody>
      </p:sp>
      <p:sp>
        <p:nvSpPr>
          <p:cNvPr id="7" name="Shape 4"/>
          <p:cNvSpPr/>
          <p:nvPr/>
        </p:nvSpPr>
        <p:spPr>
          <a:xfrm>
            <a:off x="5760720" y="1097280"/>
            <a:ext cx="2926080" cy="1005840"/>
          </a:xfrm>
          <a:prstGeom prst="roundRect">
            <a:avLst>
              <a:gd name="adj" fmla="val 7273"/>
            </a:avLst>
          </a:prstGeom>
          <a:solidFill>
            <a:srgbClr val="FBEAEA"/>
          </a:solidFill>
          <a:ln w="12700">
            <a:solidFill>
              <a:srgbClr val="E6DADA"/>
            </a:solidFill>
            <a:prstDash val="solid"/>
          </a:ln>
        </p:spPr>
      </p:sp>
      <p:sp>
        <p:nvSpPr>
          <p:cNvPr id="8" name="Text 5"/>
          <p:cNvSpPr txBox="1"/>
          <p:nvPr/>
        </p:nvSpPr>
        <p:spPr>
          <a:xfrm>
            <a:off x="5943600" y="1207008"/>
            <a:ext cx="2560320" cy="274320"/>
          </a:xfrm>
          <a:prstGeom prst="rect">
            <a:avLst/>
          </a:prstGeom>
          <a:noFill/>
          <a:ln/>
        </p:spPr>
        <p:txBody>
          <a:bodyPr wrap="square" lIns="0" tIns="0" rIns="0" bIns="0" rtlCol="0" anchor="ctr"/>
          <a:lstStyle/>
          <a:p>
            <a:pPr indent="0" marL="0">
              <a:buNone/>
            </a:pPr>
            <a:r>
              <a:rPr lang="en-US" sz="1600" b="1" dirty="0">
                <a:solidFill>
                  <a:srgbClr val="C00000"/>
                </a:solidFill>
                <a:latin typeface="Cambria" pitchFamily="34" charset="0"/>
                <a:ea typeface="Cambria" pitchFamily="34" charset="-122"/>
                <a:cs typeface="Cambria" pitchFamily="34" charset="-120"/>
              </a:rPr>
              <a:t>Suffix Array</a:t>
            </a:r>
            <a:endParaRPr lang="en-US" sz="1600" dirty="0"/>
          </a:p>
        </p:txBody>
      </p:sp>
      <p:sp>
        <p:nvSpPr>
          <p:cNvPr id="9" name="Text 6"/>
          <p:cNvSpPr txBox="1"/>
          <p:nvPr/>
        </p:nvSpPr>
        <p:spPr>
          <a:xfrm>
            <a:off x="5943600" y="1536192"/>
            <a:ext cx="2560320" cy="45720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Sorted list of all suffix start-indices</a:t>
            </a:r>
            <a:endParaRPr lang="en-US" sz="1200" dirty="0"/>
          </a:p>
        </p:txBody>
      </p:sp>
      <p:sp>
        <p:nvSpPr>
          <p:cNvPr id="10" name="Shape 7"/>
          <p:cNvSpPr/>
          <p:nvPr/>
        </p:nvSpPr>
        <p:spPr>
          <a:xfrm>
            <a:off x="5760720" y="2286000"/>
            <a:ext cx="2926080" cy="1005840"/>
          </a:xfrm>
          <a:prstGeom prst="roundRect">
            <a:avLst>
              <a:gd name="adj" fmla="val 7273"/>
            </a:avLst>
          </a:prstGeom>
          <a:solidFill>
            <a:srgbClr val="FBEAEA"/>
          </a:solidFill>
          <a:ln w="12700">
            <a:solidFill>
              <a:srgbClr val="E6DADA"/>
            </a:solidFill>
            <a:prstDash val="solid"/>
          </a:ln>
        </p:spPr>
      </p:sp>
      <p:sp>
        <p:nvSpPr>
          <p:cNvPr id="11" name="Text 8"/>
          <p:cNvSpPr txBox="1"/>
          <p:nvPr/>
        </p:nvSpPr>
        <p:spPr>
          <a:xfrm>
            <a:off x="5943600" y="2395728"/>
            <a:ext cx="2560320" cy="274320"/>
          </a:xfrm>
          <a:prstGeom prst="rect">
            <a:avLst/>
          </a:prstGeom>
          <a:noFill/>
          <a:ln/>
        </p:spPr>
        <p:txBody>
          <a:bodyPr wrap="square" lIns="0" tIns="0" rIns="0" bIns="0" rtlCol="0" anchor="ctr"/>
          <a:lstStyle/>
          <a:p>
            <a:pPr indent="0" marL="0">
              <a:buNone/>
            </a:pPr>
            <a:r>
              <a:rPr lang="en-US" sz="1600" b="1" dirty="0">
                <a:solidFill>
                  <a:srgbClr val="C00000"/>
                </a:solidFill>
                <a:latin typeface="Cambria" pitchFamily="34" charset="0"/>
                <a:ea typeface="Cambria" pitchFamily="34" charset="-122"/>
                <a:cs typeface="Cambria" pitchFamily="34" charset="-120"/>
              </a:rPr>
              <a:t>LCP Array</a:t>
            </a:r>
            <a:endParaRPr lang="en-US" sz="1600" dirty="0"/>
          </a:p>
        </p:txBody>
      </p:sp>
      <p:sp>
        <p:nvSpPr>
          <p:cNvPr id="12" name="Text 9"/>
          <p:cNvSpPr txBox="1"/>
          <p:nvPr/>
        </p:nvSpPr>
        <p:spPr>
          <a:xfrm>
            <a:off x="5943600" y="2724912"/>
            <a:ext cx="2560320" cy="45720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Common-prefix length of adjacent suffixes</a:t>
            </a:r>
            <a:endParaRPr lang="en-US" sz="1200" dirty="0"/>
          </a:p>
        </p:txBody>
      </p:sp>
      <p:sp>
        <p:nvSpPr>
          <p:cNvPr id="13" name="Shape 10"/>
          <p:cNvSpPr/>
          <p:nvPr/>
        </p:nvSpPr>
        <p:spPr>
          <a:xfrm>
            <a:off x="5760720" y="3474720"/>
            <a:ext cx="2926080" cy="1005840"/>
          </a:xfrm>
          <a:prstGeom prst="roundRect">
            <a:avLst>
              <a:gd name="adj" fmla="val 7273"/>
            </a:avLst>
          </a:prstGeom>
          <a:solidFill>
            <a:srgbClr val="FBEAEA"/>
          </a:solidFill>
          <a:ln w="12700">
            <a:solidFill>
              <a:srgbClr val="E6DADA"/>
            </a:solidFill>
            <a:prstDash val="solid"/>
          </a:ln>
        </p:spPr>
      </p:sp>
      <p:sp>
        <p:nvSpPr>
          <p:cNvPr id="14" name="Text 11"/>
          <p:cNvSpPr txBox="1"/>
          <p:nvPr/>
        </p:nvSpPr>
        <p:spPr>
          <a:xfrm>
            <a:off x="5943600" y="3584448"/>
            <a:ext cx="2560320" cy="274320"/>
          </a:xfrm>
          <a:prstGeom prst="rect">
            <a:avLst/>
          </a:prstGeom>
          <a:noFill/>
          <a:ln/>
        </p:spPr>
        <p:txBody>
          <a:bodyPr wrap="square" lIns="0" tIns="0" rIns="0" bIns="0" rtlCol="0" anchor="ctr"/>
          <a:lstStyle/>
          <a:p>
            <a:pPr indent="0" marL="0">
              <a:buNone/>
            </a:pPr>
            <a:r>
              <a:rPr lang="en-US" sz="1600" b="1" dirty="0">
                <a:solidFill>
                  <a:srgbClr val="C00000"/>
                </a:solidFill>
                <a:latin typeface="Cambria" pitchFamily="34" charset="0"/>
                <a:ea typeface="Cambria" pitchFamily="34" charset="-122"/>
                <a:cs typeface="Cambria" pitchFamily="34" charset="-120"/>
              </a:rPr>
              <a:t>Naive vs Kasai</a:t>
            </a:r>
            <a:endParaRPr lang="en-US" sz="1600" dirty="0"/>
          </a:p>
        </p:txBody>
      </p:sp>
      <p:sp>
        <p:nvSpPr>
          <p:cNvPr id="15" name="Text 12"/>
          <p:cNvSpPr txBox="1"/>
          <p:nvPr/>
        </p:nvSpPr>
        <p:spPr>
          <a:xfrm>
            <a:off x="5943600" y="3913632"/>
            <a:ext cx="2560320" cy="45720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O(n²) comparison vs O(n) linear time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6949440" cy="548640"/>
          </a:xfrm>
          <a:prstGeom prst="rect">
            <a:avLst/>
          </a:prstGeom>
          <a:noFill/>
          <a:ln/>
        </p:spPr>
        <p:txBody>
          <a:bodyPr wrap="square" lIns="0" tIns="0" rIns="0" bIns="0" rtlCol="0" anchor="ctr"/>
          <a:lstStyle/>
          <a:p>
            <a:pPr indent="0" marL="0">
              <a:buNone/>
            </a:pPr>
            <a:r>
              <a:rPr lang="en-US" sz="2800" b="1" dirty="0">
                <a:solidFill>
                  <a:srgbClr val="C00000"/>
                </a:solidFill>
                <a:latin typeface="Cambria" pitchFamily="34" charset="0"/>
                <a:ea typeface="Cambria" pitchFamily="34" charset="-122"/>
                <a:cs typeface="Cambria" pitchFamily="34" charset="-120"/>
              </a:rPr>
              <a:t>Introduction</a:t>
            </a:r>
            <a:endParaRPr lang="en-US" sz="2800" dirty="0"/>
          </a:p>
        </p:txBody>
      </p:sp>
      <p:pic>
        <p:nvPicPr>
          <p:cNvPr id="3" name="Image 0" descr="logo-000.jpg">    </p:cNvPr>
          <p:cNvPicPr>
            <a:picLocks noChangeAspect="1"/>
          </p:cNvPicPr>
          <p:nvPr/>
        </p:nvPicPr>
        <p:blipFill>
          <a:blip r:embed="rId1"/>
          <a:stretch>
            <a:fillRect/>
          </a:stretch>
        </p:blipFill>
        <p:spPr>
          <a:xfrm>
            <a:off x="7772400" y="256032"/>
            <a:ext cx="914400" cy="393192"/>
          </a:xfrm>
          <a:prstGeom prst="rect">
            <a:avLst/>
          </a:prstGeom>
        </p:spPr>
      </p:pic>
      <p:sp>
        <p:nvSpPr>
          <p:cNvPr id="4" name="Text 1"/>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DSA-3 • LCP Array Using Suffix Arrays</a:t>
            </a:r>
            <a:endParaRPr lang="en-US" sz="900" dirty="0"/>
          </a:p>
        </p:txBody>
      </p:sp>
      <p:sp>
        <p:nvSpPr>
          <p:cNvPr id="5" name="Text 2"/>
          <p:cNvSpPr txBox="1"/>
          <p:nvPr/>
        </p:nvSpPr>
        <p:spPr>
          <a:xfrm>
            <a:off x="8138160" y="4800600"/>
            <a:ext cx="548640"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4</a:t>
            </a:r>
            <a:endParaRPr lang="en-US" sz="900" dirty="0"/>
          </a:p>
        </p:txBody>
      </p:sp>
      <p:sp>
        <p:nvSpPr>
          <p:cNvPr id="6" name="Text 3"/>
          <p:cNvSpPr txBox="1"/>
          <p:nvPr/>
        </p:nvSpPr>
        <p:spPr>
          <a:xfrm>
            <a:off x="457200" y="1097280"/>
            <a:ext cx="4937760" cy="1737360"/>
          </a:xfrm>
          <a:prstGeom prst="rect">
            <a:avLst/>
          </a:prstGeom>
          <a:noFill/>
          <a:ln/>
        </p:spPr>
        <p:txBody>
          <a:bodyPr wrap="square" lIns="0" tIns="0" rIns="0" bIns="0" rtlCol="0" anchor="t"/>
          <a:lstStyle/>
          <a:p>
            <a:pPr algn="just" indent="0" marL="0">
              <a:buNone/>
            </a:pPr>
            <a:r>
              <a:rPr lang="en-US" sz="1300" dirty="0">
                <a:solidFill>
                  <a:srgbClr val="2B2B2B"/>
                </a:solidFill>
                <a:latin typeface="Calibri" pitchFamily="34" charset="0"/>
                <a:ea typeface="Calibri" pitchFamily="34" charset="-122"/>
                <a:cs typeface="Calibri" pitchFamily="34" charset="-120"/>
              </a:rPr>
              <a:t>String processing underpins search engines, data compression, bioinformatics and natural language processing. The suffix array, a sorted list of all suffixes of a string, enables fast substring search. The LCP array adds the length of the longest common prefix between consecutive suffixes, revealing repeated patterns and overlaps in the text.</a:t>
            </a:r>
            <a:endParaRPr lang="en-US" sz="1300" dirty="0"/>
          </a:p>
        </p:txBody>
      </p:sp>
      <p:sp>
        <p:nvSpPr>
          <p:cNvPr id="7" name="Text 4"/>
          <p:cNvSpPr txBox="1"/>
          <p:nvPr/>
        </p:nvSpPr>
        <p:spPr>
          <a:xfrm>
            <a:off x="457200" y="2971800"/>
            <a:ext cx="4937760" cy="1097280"/>
          </a:xfrm>
          <a:prstGeom prst="rect">
            <a:avLst/>
          </a:prstGeom>
          <a:noFill/>
          <a:ln/>
        </p:spPr>
        <p:txBody>
          <a:bodyPr wrap="square" lIns="0" tIns="0" rIns="0" bIns="0" rtlCol="0" anchor="t"/>
          <a:lstStyle/>
          <a:p>
            <a:pPr algn="just" indent="0" marL="0">
              <a:buNone/>
            </a:pPr>
            <a:r>
              <a:rPr lang="en-US" sz="1300" dirty="0">
                <a:solidFill>
                  <a:srgbClr val="2B2B2B"/>
                </a:solidFill>
                <a:latin typeface="Calibri" pitchFamily="34" charset="0"/>
                <a:ea typeface="Calibri" pitchFamily="34" charset="-122"/>
                <a:cs typeface="Calibri" pitchFamily="34" charset="-120"/>
              </a:rPr>
              <a:t>This project constructs both arrays, supports substring-related queries, visualizes the results and compares the execution time of the naive and optimized approaches.</a:t>
            </a:r>
            <a:endParaRPr lang="en-US" sz="1300" dirty="0"/>
          </a:p>
        </p:txBody>
      </p:sp>
      <p:sp>
        <p:nvSpPr>
          <p:cNvPr id="8" name="Shape 5"/>
          <p:cNvSpPr/>
          <p:nvPr/>
        </p:nvSpPr>
        <p:spPr>
          <a:xfrm>
            <a:off x="5669280" y="1097280"/>
            <a:ext cx="3017520" cy="1508760"/>
          </a:xfrm>
          <a:prstGeom prst="roundRect">
            <a:avLst>
              <a:gd name="adj" fmla="val 4848"/>
            </a:avLst>
          </a:prstGeom>
          <a:solidFill>
            <a:srgbClr val="FBEAEA"/>
          </a:solidFill>
          <a:ln w="12700">
            <a:solidFill>
              <a:srgbClr val="E6DADA"/>
            </a:solidFill>
            <a:prstDash val="solid"/>
          </a:ln>
        </p:spPr>
      </p:sp>
      <p:sp>
        <p:nvSpPr>
          <p:cNvPr id="9" name="Text 6"/>
          <p:cNvSpPr txBox="1"/>
          <p:nvPr/>
        </p:nvSpPr>
        <p:spPr>
          <a:xfrm>
            <a:off x="5852160" y="1207008"/>
            <a:ext cx="2651760" cy="274320"/>
          </a:xfrm>
          <a:prstGeom prst="rect">
            <a:avLst/>
          </a:prstGeom>
          <a:noFill/>
          <a:ln/>
        </p:spPr>
        <p:txBody>
          <a:bodyPr wrap="square" lIns="0" tIns="0" rIns="0" bIns="0" rtlCol="0" anchor="ctr"/>
          <a:lstStyle/>
          <a:p>
            <a:pPr indent="0" marL="0">
              <a:buNone/>
            </a:pPr>
            <a:r>
              <a:rPr lang="en-US" sz="1300" b="1" dirty="0">
                <a:solidFill>
                  <a:srgbClr val="2B2B2B"/>
                </a:solidFill>
                <a:latin typeface="Calibri" pitchFamily="34" charset="0"/>
                <a:ea typeface="Calibri" pitchFamily="34" charset="-122"/>
                <a:cs typeface="Calibri" pitchFamily="34" charset="-120"/>
              </a:rPr>
              <a:t>Naive approach</a:t>
            </a:r>
            <a:endParaRPr lang="en-US" sz="1300" dirty="0"/>
          </a:p>
        </p:txBody>
      </p:sp>
      <p:sp>
        <p:nvSpPr>
          <p:cNvPr id="10" name="Text 7"/>
          <p:cNvSpPr txBox="1"/>
          <p:nvPr/>
        </p:nvSpPr>
        <p:spPr>
          <a:xfrm>
            <a:off x="5852160" y="1508760"/>
            <a:ext cx="2651760" cy="548640"/>
          </a:xfrm>
          <a:prstGeom prst="rect">
            <a:avLst/>
          </a:prstGeom>
          <a:noFill/>
          <a:ln/>
        </p:spPr>
        <p:txBody>
          <a:bodyPr wrap="square" lIns="0" tIns="0" rIns="0" bIns="0" rtlCol="0" anchor="ctr"/>
          <a:lstStyle/>
          <a:p>
            <a:pPr indent="0" marL="0">
              <a:buNone/>
            </a:pPr>
            <a:r>
              <a:rPr lang="en-US" sz="3400" b="1" dirty="0">
                <a:solidFill>
                  <a:srgbClr val="C00000"/>
                </a:solidFill>
                <a:latin typeface="Cambria" pitchFamily="34" charset="0"/>
                <a:ea typeface="Cambria" pitchFamily="34" charset="-122"/>
                <a:cs typeface="Cambria" pitchFamily="34" charset="-120"/>
              </a:rPr>
              <a:t>O(n²)</a:t>
            </a:r>
            <a:endParaRPr lang="en-US" sz="3400" dirty="0"/>
          </a:p>
        </p:txBody>
      </p:sp>
      <p:sp>
        <p:nvSpPr>
          <p:cNvPr id="11" name="Text 8"/>
          <p:cNvSpPr txBox="1"/>
          <p:nvPr/>
        </p:nvSpPr>
        <p:spPr>
          <a:xfrm>
            <a:off x="5852160" y="2103120"/>
            <a:ext cx="2651760" cy="41148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Direct comparison of adjacent suffixes</a:t>
            </a:r>
            <a:endParaRPr lang="en-US" sz="1200" dirty="0"/>
          </a:p>
        </p:txBody>
      </p:sp>
      <p:sp>
        <p:nvSpPr>
          <p:cNvPr id="12" name="Shape 9"/>
          <p:cNvSpPr/>
          <p:nvPr/>
        </p:nvSpPr>
        <p:spPr>
          <a:xfrm>
            <a:off x="5669280" y="2834640"/>
            <a:ext cx="3017520" cy="1508760"/>
          </a:xfrm>
          <a:prstGeom prst="roundRect">
            <a:avLst>
              <a:gd name="adj" fmla="val 4848"/>
            </a:avLst>
          </a:prstGeom>
          <a:solidFill>
            <a:srgbClr val="C00000"/>
          </a:solidFill>
          <a:ln w="12700">
            <a:solidFill>
              <a:srgbClr val="E6DADA"/>
            </a:solidFill>
            <a:prstDash val="solid"/>
          </a:ln>
        </p:spPr>
      </p:sp>
      <p:sp>
        <p:nvSpPr>
          <p:cNvPr id="13" name="Text 10"/>
          <p:cNvSpPr txBox="1"/>
          <p:nvPr/>
        </p:nvSpPr>
        <p:spPr>
          <a:xfrm>
            <a:off x="5852160" y="2944368"/>
            <a:ext cx="265176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Kasai’s algorithm</a:t>
            </a:r>
            <a:endParaRPr lang="en-US" sz="1300" dirty="0"/>
          </a:p>
        </p:txBody>
      </p:sp>
      <p:sp>
        <p:nvSpPr>
          <p:cNvPr id="14" name="Text 11"/>
          <p:cNvSpPr txBox="1"/>
          <p:nvPr/>
        </p:nvSpPr>
        <p:spPr>
          <a:xfrm>
            <a:off x="5852160" y="3246120"/>
            <a:ext cx="2651760" cy="5486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O(n)</a:t>
            </a:r>
            <a:endParaRPr lang="en-US" sz="3400" dirty="0"/>
          </a:p>
        </p:txBody>
      </p:sp>
      <p:sp>
        <p:nvSpPr>
          <p:cNvPr id="15" name="Text 12"/>
          <p:cNvSpPr txBox="1"/>
          <p:nvPr/>
        </p:nvSpPr>
        <p:spPr>
          <a:xfrm>
            <a:off x="5852160" y="3840480"/>
            <a:ext cx="2651760" cy="4114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Linear time by reusing prefix information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6949440" cy="548640"/>
          </a:xfrm>
          <a:prstGeom prst="rect">
            <a:avLst/>
          </a:prstGeom>
          <a:noFill/>
          <a:ln/>
        </p:spPr>
        <p:txBody>
          <a:bodyPr wrap="square" lIns="0" tIns="0" rIns="0" bIns="0" rtlCol="0" anchor="ctr"/>
          <a:lstStyle/>
          <a:p>
            <a:pPr indent="0" marL="0">
              <a:buNone/>
            </a:pPr>
            <a:r>
              <a:rPr lang="en-US" sz="2800" b="1" dirty="0">
                <a:solidFill>
                  <a:srgbClr val="C00000"/>
                </a:solidFill>
                <a:latin typeface="Cambria" pitchFamily="34" charset="0"/>
                <a:ea typeface="Cambria" pitchFamily="34" charset="-122"/>
                <a:cs typeface="Cambria" pitchFamily="34" charset="-120"/>
              </a:rPr>
              <a:t>Literature Survey</a:t>
            </a:r>
            <a:endParaRPr lang="en-US" sz="2800" dirty="0"/>
          </a:p>
        </p:txBody>
      </p:sp>
      <p:pic>
        <p:nvPicPr>
          <p:cNvPr id="3" name="Image 0" descr="logo-000.jpg">    </p:cNvPr>
          <p:cNvPicPr>
            <a:picLocks noChangeAspect="1"/>
          </p:cNvPicPr>
          <p:nvPr/>
        </p:nvPicPr>
        <p:blipFill>
          <a:blip r:embed="rId1"/>
          <a:stretch>
            <a:fillRect/>
          </a:stretch>
        </p:blipFill>
        <p:spPr>
          <a:xfrm>
            <a:off x="7772400" y="256032"/>
            <a:ext cx="914400" cy="393192"/>
          </a:xfrm>
          <a:prstGeom prst="rect">
            <a:avLst/>
          </a:prstGeom>
        </p:spPr>
      </p:pic>
      <p:sp>
        <p:nvSpPr>
          <p:cNvPr id="4" name="Text 1"/>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DSA-3 • LCP Array Using Suffix Arrays</a:t>
            </a:r>
            <a:endParaRPr lang="en-US" sz="900" dirty="0"/>
          </a:p>
        </p:txBody>
      </p:sp>
      <p:sp>
        <p:nvSpPr>
          <p:cNvPr id="5" name="Text 2"/>
          <p:cNvSpPr txBox="1"/>
          <p:nvPr/>
        </p:nvSpPr>
        <p:spPr>
          <a:xfrm>
            <a:off x="8138160" y="4800600"/>
            <a:ext cx="548640"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5</a:t>
            </a:r>
            <a:endParaRPr lang="en-US" sz="900" dirty="0"/>
          </a:p>
        </p:txBody>
      </p:sp>
      <p:sp>
        <p:nvSpPr>
          <p:cNvPr id="6" name="Shape 3"/>
          <p:cNvSpPr/>
          <p:nvPr/>
        </p:nvSpPr>
        <p:spPr>
          <a:xfrm>
            <a:off x="457200" y="1097280"/>
            <a:ext cx="4023360" cy="1645920"/>
          </a:xfrm>
          <a:prstGeom prst="roundRect">
            <a:avLst>
              <a:gd name="adj" fmla="val 4444"/>
            </a:avLst>
          </a:prstGeom>
          <a:solidFill>
            <a:srgbClr val="FFFFFF"/>
          </a:solidFill>
          <a:ln w="12700">
            <a:solidFill>
              <a:srgbClr val="E6DADA"/>
            </a:solidFill>
            <a:prstDash val="solid"/>
          </a:ln>
        </p:spPr>
      </p:sp>
      <p:sp>
        <p:nvSpPr>
          <p:cNvPr id="7" name="Text 4"/>
          <p:cNvSpPr txBox="1"/>
          <p:nvPr/>
        </p:nvSpPr>
        <p:spPr>
          <a:xfrm>
            <a:off x="640080" y="1234440"/>
            <a:ext cx="3657600" cy="274320"/>
          </a:xfrm>
          <a:prstGeom prst="rect">
            <a:avLst/>
          </a:prstGeom>
          <a:noFill/>
          <a:ln/>
        </p:spPr>
        <p:txBody>
          <a:bodyPr wrap="square" lIns="0" tIns="0" rIns="0" bIns="0" rtlCol="0" anchor="ctr"/>
          <a:lstStyle/>
          <a:p>
            <a:pPr indent="0" marL="0">
              <a:buNone/>
            </a:pPr>
            <a:r>
              <a:rPr lang="en-US" sz="1400" b="1" dirty="0">
                <a:solidFill>
                  <a:srgbClr val="C00000"/>
                </a:solidFill>
                <a:latin typeface="Calibri" pitchFamily="34" charset="0"/>
                <a:ea typeface="Calibri" pitchFamily="34" charset="-122"/>
                <a:cs typeface="Calibri" pitchFamily="34" charset="-120"/>
              </a:rPr>
              <a:t>Naive Methods</a:t>
            </a:r>
            <a:endParaRPr lang="en-US" sz="1400" dirty="0"/>
          </a:p>
        </p:txBody>
      </p:sp>
      <p:sp>
        <p:nvSpPr>
          <p:cNvPr id="8" name="Text 5"/>
          <p:cNvSpPr txBox="1"/>
          <p:nvPr/>
        </p:nvSpPr>
        <p:spPr>
          <a:xfrm>
            <a:off x="640080" y="1600200"/>
            <a:ext cx="3657600" cy="1051560"/>
          </a:xfrm>
          <a:prstGeom prst="rect">
            <a:avLst/>
          </a:prstGeom>
          <a:noFill/>
          <a:ln/>
        </p:spPr>
        <p:txBody>
          <a:bodyPr wrap="square" lIns="0" tIns="0" rIns="0" bIns="0" rtlCol="0" anchor="t"/>
          <a:lstStyle/>
          <a:p>
            <a:pPr algn="just" indent="0" marL="0">
              <a:buNone/>
            </a:pPr>
            <a:r>
              <a:rPr lang="en-US" sz="1200" dirty="0">
                <a:solidFill>
                  <a:srgbClr val="2B2B2B"/>
                </a:solidFill>
                <a:latin typeface="Calibri" pitchFamily="34" charset="0"/>
                <a:ea typeface="Calibri" pitchFamily="34" charset="-122"/>
                <a:cs typeface="Calibri" pitchFamily="34" charset="-120"/>
              </a:rPr>
              <a:t>Early approaches computed the LCP by comparing adjacent suffixes character by character. Conceptually simple, but O(n²) and impractical for large datasets.</a:t>
            </a:r>
            <a:endParaRPr lang="en-US" sz="1200" dirty="0"/>
          </a:p>
        </p:txBody>
      </p:sp>
      <p:sp>
        <p:nvSpPr>
          <p:cNvPr id="9" name="Shape 6"/>
          <p:cNvSpPr/>
          <p:nvPr/>
        </p:nvSpPr>
        <p:spPr>
          <a:xfrm>
            <a:off x="4663440" y="1097280"/>
            <a:ext cx="4023360" cy="1645920"/>
          </a:xfrm>
          <a:prstGeom prst="roundRect">
            <a:avLst>
              <a:gd name="adj" fmla="val 4444"/>
            </a:avLst>
          </a:prstGeom>
          <a:solidFill>
            <a:srgbClr val="FFFFFF"/>
          </a:solidFill>
          <a:ln w="12700">
            <a:solidFill>
              <a:srgbClr val="E6DADA"/>
            </a:solidFill>
            <a:prstDash val="solid"/>
          </a:ln>
        </p:spPr>
      </p:sp>
      <p:sp>
        <p:nvSpPr>
          <p:cNvPr id="10" name="Text 7"/>
          <p:cNvSpPr txBox="1"/>
          <p:nvPr/>
        </p:nvSpPr>
        <p:spPr>
          <a:xfrm>
            <a:off x="4846320" y="1234440"/>
            <a:ext cx="3657600" cy="274320"/>
          </a:xfrm>
          <a:prstGeom prst="rect">
            <a:avLst/>
          </a:prstGeom>
          <a:noFill/>
          <a:ln/>
        </p:spPr>
        <p:txBody>
          <a:bodyPr wrap="square" lIns="0" tIns="0" rIns="0" bIns="0" rtlCol="0" anchor="ctr"/>
          <a:lstStyle/>
          <a:p>
            <a:pPr indent="0" marL="0">
              <a:buNone/>
            </a:pPr>
            <a:r>
              <a:rPr lang="en-US" sz="1400" b="1" dirty="0">
                <a:solidFill>
                  <a:srgbClr val="C00000"/>
                </a:solidFill>
                <a:latin typeface="Calibri" pitchFamily="34" charset="0"/>
                <a:ea typeface="Calibri" pitchFamily="34" charset="-122"/>
                <a:cs typeface="Calibri" pitchFamily="34" charset="-120"/>
              </a:rPr>
              <a:t>Suffix Trees</a:t>
            </a:r>
            <a:endParaRPr lang="en-US" sz="1400" dirty="0"/>
          </a:p>
        </p:txBody>
      </p:sp>
      <p:sp>
        <p:nvSpPr>
          <p:cNvPr id="11" name="Text 8"/>
          <p:cNvSpPr txBox="1"/>
          <p:nvPr/>
        </p:nvSpPr>
        <p:spPr>
          <a:xfrm>
            <a:off x="4846320" y="1600200"/>
            <a:ext cx="3657600" cy="1051560"/>
          </a:xfrm>
          <a:prstGeom prst="rect">
            <a:avLst/>
          </a:prstGeom>
          <a:noFill/>
          <a:ln/>
        </p:spPr>
        <p:txBody>
          <a:bodyPr wrap="square" lIns="0" tIns="0" rIns="0" bIns="0" rtlCol="0" anchor="t"/>
          <a:lstStyle/>
          <a:p>
            <a:pPr algn="just" indent="0" marL="0">
              <a:buNone/>
            </a:pPr>
            <a:r>
              <a:rPr lang="en-US" sz="1200" dirty="0">
                <a:solidFill>
                  <a:srgbClr val="2B2B2B"/>
                </a:solidFill>
                <a:latin typeface="Calibri" pitchFamily="34" charset="0"/>
                <a:ea typeface="Calibri" pitchFamily="34" charset="-122"/>
                <a:cs typeface="Calibri" pitchFamily="34" charset="-120"/>
              </a:rPr>
              <a:t>Allow efficient substring queries and LCP computation, but need significant memory and are complex to implement at large scale.</a:t>
            </a:r>
            <a:endParaRPr lang="en-US" sz="1200" dirty="0"/>
          </a:p>
        </p:txBody>
      </p:sp>
      <p:sp>
        <p:nvSpPr>
          <p:cNvPr id="12" name="Shape 9"/>
          <p:cNvSpPr/>
          <p:nvPr/>
        </p:nvSpPr>
        <p:spPr>
          <a:xfrm>
            <a:off x="457200" y="2926080"/>
            <a:ext cx="4023360" cy="1645920"/>
          </a:xfrm>
          <a:prstGeom prst="roundRect">
            <a:avLst>
              <a:gd name="adj" fmla="val 4444"/>
            </a:avLst>
          </a:prstGeom>
          <a:solidFill>
            <a:srgbClr val="FFFFFF"/>
          </a:solidFill>
          <a:ln w="12700">
            <a:solidFill>
              <a:srgbClr val="E6DADA"/>
            </a:solidFill>
            <a:prstDash val="solid"/>
          </a:ln>
        </p:spPr>
      </p:sp>
      <p:sp>
        <p:nvSpPr>
          <p:cNvPr id="13" name="Text 10"/>
          <p:cNvSpPr txBox="1"/>
          <p:nvPr/>
        </p:nvSpPr>
        <p:spPr>
          <a:xfrm>
            <a:off x="640080" y="3063240"/>
            <a:ext cx="3657600" cy="274320"/>
          </a:xfrm>
          <a:prstGeom prst="rect">
            <a:avLst/>
          </a:prstGeom>
          <a:noFill/>
          <a:ln/>
        </p:spPr>
        <p:txBody>
          <a:bodyPr wrap="square" lIns="0" tIns="0" rIns="0" bIns="0" rtlCol="0" anchor="ctr"/>
          <a:lstStyle/>
          <a:p>
            <a:pPr indent="0" marL="0">
              <a:buNone/>
            </a:pPr>
            <a:r>
              <a:rPr lang="en-US" sz="1400" b="1" dirty="0">
                <a:solidFill>
                  <a:srgbClr val="C00000"/>
                </a:solidFill>
                <a:latin typeface="Calibri" pitchFamily="34" charset="0"/>
                <a:ea typeface="Calibri" pitchFamily="34" charset="-122"/>
                <a:cs typeface="Calibri" pitchFamily="34" charset="-120"/>
              </a:rPr>
              <a:t>Suffix Arrays</a:t>
            </a:r>
            <a:endParaRPr lang="en-US" sz="1400" dirty="0"/>
          </a:p>
        </p:txBody>
      </p:sp>
      <p:sp>
        <p:nvSpPr>
          <p:cNvPr id="14" name="Text 11"/>
          <p:cNvSpPr txBox="1"/>
          <p:nvPr/>
        </p:nvSpPr>
        <p:spPr>
          <a:xfrm>
            <a:off x="640080" y="3429000"/>
            <a:ext cx="3657600" cy="1051560"/>
          </a:xfrm>
          <a:prstGeom prst="rect">
            <a:avLst/>
          </a:prstGeom>
          <a:noFill/>
          <a:ln/>
        </p:spPr>
        <p:txBody>
          <a:bodyPr wrap="square" lIns="0" tIns="0" rIns="0" bIns="0" rtlCol="0" anchor="t"/>
          <a:lstStyle/>
          <a:p>
            <a:pPr algn="just" indent="0" marL="0">
              <a:buNone/>
            </a:pPr>
            <a:r>
              <a:rPr lang="en-US" sz="1200" dirty="0">
                <a:solidFill>
                  <a:srgbClr val="2B2B2B"/>
                </a:solidFill>
                <a:latin typeface="Calibri" pitchFamily="34" charset="0"/>
                <a:ea typeface="Calibri" pitchFamily="34" charset="-122"/>
                <a:cs typeface="Calibri" pitchFamily="34" charset="-120"/>
              </a:rPr>
              <a:t>A space-efficient alternative to suffix trees. They store the sorted suffixes, reduce memory usage and simplify implementation while supporting fast queries.</a:t>
            </a:r>
            <a:endParaRPr lang="en-US" sz="1200" dirty="0"/>
          </a:p>
        </p:txBody>
      </p:sp>
      <p:sp>
        <p:nvSpPr>
          <p:cNvPr id="15" name="Shape 12"/>
          <p:cNvSpPr/>
          <p:nvPr/>
        </p:nvSpPr>
        <p:spPr>
          <a:xfrm>
            <a:off x="4663440" y="2926080"/>
            <a:ext cx="4023360" cy="1645920"/>
          </a:xfrm>
          <a:prstGeom prst="roundRect">
            <a:avLst>
              <a:gd name="adj" fmla="val 4444"/>
            </a:avLst>
          </a:prstGeom>
          <a:solidFill>
            <a:srgbClr val="FFFFFF"/>
          </a:solidFill>
          <a:ln w="12700">
            <a:solidFill>
              <a:srgbClr val="E6DADA"/>
            </a:solidFill>
            <a:prstDash val="solid"/>
          </a:ln>
        </p:spPr>
      </p:sp>
      <p:sp>
        <p:nvSpPr>
          <p:cNvPr id="16" name="Text 13"/>
          <p:cNvSpPr txBox="1"/>
          <p:nvPr/>
        </p:nvSpPr>
        <p:spPr>
          <a:xfrm>
            <a:off x="4846320" y="3063240"/>
            <a:ext cx="3657600" cy="274320"/>
          </a:xfrm>
          <a:prstGeom prst="rect">
            <a:avLst/>
          </a:prstGeom>
          <a:noFill/>
          <a:ln/>
        </p:spPr>
        <p:txBody>
          <a:bodyPr wrap="square" lIns="0" tIns="0" rIns="0" bIns="0" rtlCol="0" anchor="ctr"/>
          <a:lstStyle/>
          <a:p>
            <a:pPr indent="0" marL="0">
              <a:buNone/>
            </a:pPr>
            <a:r>
              <a:rPr lang="en-US" sz="1400" b="1" dirty="0">
                <a:solidFill>
                  <a:srgbClr val="C00000"/>
                </a:solidFill>
                <a:latin typeface="Calibri" pitchFamily="34" charset="0"/>
                <a:ea typeface="Calibri" pitchFamily="34" charset="-122"/>
                <a:cs typeface="Calibri" pitchFamily="34" charset="-120"/>
              </a:rPr>
              <a:t>Compression &amp; Analytics</a:t>
            </a:r>
            <a:endParaRPr lang="en-US" sz="1400" dirty="0"/>
          </a:p>
        </p:txBody>
      </p:sp>
      <p:sp>
        <p:nvSpPr>
          <p:cNvPr id="17" name="Text 14"/>
          <p:cNvSpPr txBox="1"/>
          <p:nvPr/>
        </p:nvSpPr>
        <p:spPr>
          <a:xfrm>
            <a:off x="4846320" y="3429000"/>
            <a:ext cx="3657600" cy="1051560"/>
          </a:xfrm>
          <a:prstGeom prst="rect">
            <a:avLst/>
          </a:prstGeom>
          <a:noFill/>
          <a:ln/>
        </p:spPr>
        <p:txBody>
          <a:bodyPr wrap="square" lIns="0" tIns="0" rIns="0" bIns="0" rtlCol="0" anchor="t"/>
          <a:lstStyle/>
          <a:p>
            <a:pPr algn="just" indent="0" marL="0">
              <a:buNone/>
            </a:pPr>
            <a:r>
              <a:rPr lang="en-US" sz="1200" dirty="0">
                <a:solidFill>
                  <a:srgbClr val="2B2B2B"/>
                </a:solidFill>
                <a:latin typeface="Calibri" pitchFamily="34" charset="0"/>
                <a:ea typeface="Calibri" pitchFamily="34" charset="-122"/>
                <a:cs typeface="Calibri" pitchFamily="34" charset="-120"/>
              </a:rPr>
              <a:t>LCP arrays are used in LZ77, the Burrows–Wheeler Transform, search engines, plagiarism detection and DNA sequence analysis.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6949440" cy="548640"/>
          </a:xfrm>
          <a:prstGeom prst="rect">
            <a:avLst/>
          </a:prstGeom>
          <a:noFill/>
          <a:ln/>
        </p:spPr>
        <p:txBody>
          <a:bodyPr wrap="square" lIns="0" tIns="0" rIns="0" bIns="0" rtlCol="0" anchor="ctr"/>
          <a:lstStyle/>
          <a:p>
            <a:pPr indent="0" marL="0">
              <a:buNone/>
            </a:pPr>
            <a:r>
              <a:rPr lang="en-US" sz="2800" b="1" dirty="0">
                <a:solidFill>
                  <a:srgbClr val="C00000"/>
                </a:solidFill>
                <a:latin typeface="Cambria" pitchFamily="34" charset="0"/>
                <a:ea typeface="Cambria" pitchFamily="34" charset="-122"/>
                <a:cs typeface="Cambria" pitchFamily="34" charset="-120"/>
              </a:rPr>
              <a:t>Problem Statement &amp; Objectives</a:t>
            </a:r>
            <a:endParaRPr lang="en-US" sz="2800" dirty="0"/>
          </a:p>
        </p:txBody>
      </p:sp>
      <p:pic>
        <p:nvPicPr>
          <p:cNvPr id="3" name="Image 0" descr="logo-000.jpg">    </p:cNvPr>
          <p:cNvPicPr>
            <a:picLocks noChangeAspect="1"/>
          </p:cNvPicPr>
          <p:nvPr/>
        </p:nvPicPr>
        <p:blipFill>
          <a:blip r:embed="rId1"/>
          <a:stretch>
            <a:fillRect/>
          </a:stretch>
        </p:blipFill>
        <p:spPr>
          <a:xfrm>
            <a:off x="7772400" y="256032"/>
            <a:ext cx="914400" cy="393192"/>
          </a:xfrm>
          <a:prstGeom prst="rect">
            <a:avLst/>
          </a:prstGeom>
        </p:spPr>
      </p:pic>
      <p:sp>
        <p:nvSpPr>
          <p:cNvPr id="4" name="Text 1"/>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DSA-3 • LCP Array Using Suffix Arrays</a:t>
            </a:r>
            <a:endParaRPr lang="en-US" sz="900" dirty="0"/>
          </a:p>
        </p:txBody>
      </p:sp>
      <p:sp>
        <p:nvSpPr>
          <p:cNvPr id="5" name="Text 2"/>
          <p:cNvSpPr txBox="1"/>
          <p:nvPr/>
        </p:nvSpPr>
        <p:spPr>
          <a:xfrm>
            <a:off x="8138160" y="4800600"/>
            <a:ext cx="548640"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6</a:t>
            </a:r>
            <a:endParaRPr lang="en-US" sz="900" dirty="0"/>
          </a:p>
        </p:txBody>
      </p:sp>
      <p:sp>
        <p:nvSpPr>
          <p:cNvPr id="6" name="Shape 3"/>
          <p:cNvSpPr/>
          <p:nvPr/>
        </p:nvSpPr>
        <p:spPr>
          <a:xfrm>
            <a:off x="457200" y="1097280"/>
            <a:ext cx="3840480" cy="3520440"/>
          </a:xfrm>
          <a:prstGeom prst="roundRect">
            <a:avLst>
              <a:gd name="adj" fmla="val 2078"/>
            </a:avLst>
          </a:prstGeom>
          <a:solidFill>
            <a:srgbClr val="FBEAEA"/>
          </a:solidFill>
          <a:ln w="12700">
            <a:solidFill>
              <a:srgbClr val="E6DADA"/>
            </a:solidFill>
            <a:prstDash val="solid"/>
          </a:ln>
        </p:spPr>
      </p:sp>
      <p:sp>
        <p:nvSpPr>
          <p:cNvPr id="7" name="Text 4"/>
          <p:cNvSpPr txBox="1"/>
          <p:nvPr/>
        </p:nvSpPr>
        <p:spPr>
          <a:xfrm>
            <a:off x="640080" y="1234440"/>
            <a:ext cx="3474720" cy="274320"/>
          </a:xfrm>
          <a:prstGeom prst="rect">
            <a:avLst/>
          </a:prstGeom>
          <a:noFill/>
          <a:ln/>
        </p:spPr>
        <p:txBody>
          <a:bodyPr wrap="square" lIns="0" tIns="0" rIns="0" bIns="0" rtlCol="0" anchor="ctr"/>
          <a:lstStyle/>
          <a:p>
            <a:pPr indent="0" marL="0">
              <a:buNone/>
            </a:pPr>
            <a:r>
              <a:rPr lang="en-US" sz="1400" b="1" dirty="0">
                <a:solidFill>
                  <a:srgbClr val="C00000"/>
                </a:solidFill>
                <a:latin typeface="Calibri" pitchFamily="34" charset="0"/>
                <a:ea typeface="Calibri" pitchFamily="34" charset="-122"/>
                <a:cs typeface="Calibri" pitchFamily="34" charset="-120"/>
              </a:rPr>
              <a:t>Problem Statement</a:t>
            </a:r>
            <a:endParaRPr lang="en-US" sz="1400" dirty="0"/>
          </a:p>
        </p:txBody>
      </p:sp>
      <p:sp>
        <p:nvSpPr>
          <p:cNvPr id="8" name="Text 5"/>
          <p:cNvSpPr txBox="1"/>
          <p:nvPr/>
        </p:nvSpPr>
        <p:spPr>
          <a:xfrm>
            <a:off x="640080" y="1645920"/>
            <a:ext cx="3474720" cy="2834640"/>
          </a:xfrm>
          <a:prstGeom prst="rect">
            <a:avLst/>
          </a:prstGeom>
          <a:noFill/>
          <a:ln/>
        </p:spPr>
        <p:txBody>
          <a:bodyPr wrap="square" lIns="0" tIns="0" rIns="0" bIns="0" rtlCol="0" anchor="t"/>
          <a:lstStyle/>
          <a:p>
            <a:pPr algn="just" indent="0" marL="0">
              <a:buNone/>
            </a:pPr>
            <a:r>
              <a:rPr lang="en-US" sz="1250" dirty="0">
                <a:solidFill>
                  <a:srgbClr val="2B2B2B"/>
                </a:solidFill>
                <a:latin typeface="Calibri" pitchFamily="34" charset="0"/>
                <a:ea typeface="Calibri" pitchFamily="34" charset="-122"/>
                <a:cs typeface="Calibri" pitchFamily="34" charset="-120"/>
              </a:rPr>
              <a:t>Efficient substring processing is critical in text analytics, data compression and bioinformatics. A suffix array gives the sorted suffixes, but finding repeated patterns requires the LCP array. The naive O(n²) computation is inefficient for large datasets, so an optimized linear-time system with substring queries and visualization is needed.</a:t>
            </a:r>
            <a:endParaRPr lang="en-US" sz="1250" dirty="0"/>
          </a:p>
        </p:txBody>
      </p:sp>
      <p:sp>
        <p:nvSpPr>
          <p:cNvPr id="9" name="Text 6"/>
          <p:cNvSpPr txBox="1"/>
          <p:nvPr/>
        </p:nvSpPr>
        <p:spPr>
          <a:xfrm>
            <a:off x="4572000" y="1234440"/>
            <a:ext cx="4114800" cy="274320"/>
          </a:xfrm>
          <a:prstGeom prst="rect">
            <a:avLst/>
          </a:prstGeom>
          <a:noFill/>
          <a:ln/>
        </p:spPr>
        <p:txBody>
          <a:bodyPr wrap="square" lIns="0" tIns="0" rIns="0" bIns="0" rtlCol="0" anchor="ctr"/>
          <a:lstStyle/>
          <a:p>
            <a:pPr indent="0" marL="0">
              <a:buNone/>
            </a:pPr>
            <a:r>
              <a:rPr lang="en-US" sz="1400" b="1" dirty="0">
                <a:solidFill>
                  <a:srgbClr val="C00000"/>
                </a:solidFill>
                <a:latin typeface="Calibri" pitchFamily="34" charset="0"/>
                <a:ea typeface="Calibri" pitchFamily="34" charset="-122"/>
                <a:cs typeface="Calibri" pitchFamily="34" charset="-120"/>
              </a:rPr>
              <a:t>Objectives</a:t>
            </a:r>
            <a:endParaRPr lang="en-US" sz="1400" dirty="0"/>
          </a:p>
        </p:txBody>
      </p:sp>
      <p:sp>
        <p:nvSpPr>
          <p:cNvPr id="10" name="Text 7"/>
          <p:cNvSpPr txBox="1"/>
          <p:nvPr/>
        </p:nvSpPr>
        <p:spPr>
          <a:xfrm>
            <a:off x="4572000" y="1645920"/>
            <a:ext cx="4114800" cy="2926080"/>
          </a:xfrm>
          <a:prstGeom prst="rect">
            <a:avLst/>
          </a:prstGeom>
          <a:noFill/>
          <a:ln/>
        </p:spPr>
        <p:txBody>
          <a:bodyPr wrap="square" lIns="0" tIns="0" rIns="0" bIns="0" rtlCol="0" anchor="t"/>
          <a:lstStyle/>
          <a:p>
            <a:pPr algn="l" indent="0" marL="0">
              <a:spcAft>
                <a:spcPts val="900"/>
              </a:spcAft>
              <a:buNone/>
            </a:pPr>
            <a:r>
              <a:rPr lang="en-US" sz="1300" b="1" dirty="0">
                <a:solidFill>
                  <a:srgbClr val="C00000"/>
                </a:solidFill>
                <a:latin typeface="Calibri" pitchFamily="34" charset="0"/>
                <a:ea typeface="Calibri" pitchFamily="34" charset="-122"/>
                <a:cs typeface="Calibri" pitchFamily="34" charset="-120"/>
              </a:rPr>
              <a:t>Suffix array: </a:t>
            </a:r>
            <a:pPr algn="l" indent="0" marL="0">
              <a:spcAft>
                <a:spcPts val="900"/>
              </a:spcAft>
              <a:buNone/>
            </a:pPr>
            <a:r>
              <a:rPr lang="en-US" sz="1300" dirty="0">
                <a:solidFill>
                  <a:srgbClr val="2B2B2B"/>
                </a:solidFill>
                <a:latin typeface="Calibri" pitchFamily="34" charset="0"/>
                <a:ea typeface="Calibri" pitchFamily="34" charset="-122"/>
                <a:cs typeface="Calibri" pitchFamily="34" charset="-120"/>
              </a:rPr>
              <a:t>build it for any input string</a:t>
            </a:r>
            <a:endParaRPr lang="en-US" sz="1300" dirty="0"/>
          </a:p>
          <a:p>
            <a:pPr algn="l" indent="0" marL="0">
              <a:spcAft>
                <a:spcPts val="900"/>
              </a:spcAft>
              <a:buNone/>
            </a:pPr>
            <a:r>
              <a:rPr lang="en-US" sz="1300" b="1" dirty="0">
                <a:solidFill>
                  <a:srgbClr val="C00000"/>
                </a:solidFill>
                <a:latin typeface="Calibri" pitchFamily="34" charset="0"/>
                <a:ea typeface="Calibri" pitchFamily="34" charset="-122"/>
                <a:cs typeface="Calibri" pitchFamily="34" charset="-120"/>
              </a:rPr>
              <a:t>LCP array: </a:t>
            </a:r>
            <a:pPr algn="l" indent="0" marL="0">
              <a:spcAft>
                <a:spcPts val="900"/>
              </a:spcAft>
              <a:buNone/>
            </a:pPr>
            <a:r>
              <a:rPr lang="en-US" sz="1300" dirty="0">
                <a:solidFill>
                  <a:srgbClr val="2B2B2B"/>
                </a:solidFill>
                <a:latin typeface="Calibri" pitchFamily="34" charset="0"/>
                <a:ea typeface="Calibri" pitchFamily="34" charset="-122"/>
                <a:cs typeface="Calibri" pitchFamily="34" charset="-120"/>
              </a:rPr>
              <a:t>compute with Kasai’s algorithm in O(n)</a:t>
            </a:r>
            <a:endParaRPr lang="en-US" sz="1300" dirty="0"/>
          </a:p>
          <a:p>
            <a:pPr algn="l" indent="0" marL="0">
              <a:spcAft>
                <a:spcPts val="900"/>
              </a:spcAft>
              <a:buNone/>
            </a:pPr>
            <a:r>
              <a:rPr lang="en-US" sz="1300" b="1" dirty="0">
                <a:solidFill>
                  <a:srgbClr val="C00000"/>
                </a:solidFill>
                <a:latin typeface="Calibri" pitchFamily="34" charset="0"/>
                <a:ea typeface="Calibri" pitchFamily="34" charset="-122"/>
                <a:cs typeface="Calibri" pitchFamily="34" charset="-120"/>
              </a:rPr>
              <a:t>Queries: </a:t>
            </a:r>
            <a:pPr algn="l" indent="0" marL="0">
              <a:spcAft>
                <a:spcPts val="900"/>
              </a:spcAft>
              <a:buNone/>
            </a:pPr>
            <a:r>
              <a:rPr lang="en-US" sz="1300" dirty="0">
                <a:solidFill>
                  <a:srgbClr val="2B2B2B"/>
                </a:solidFill>
                <a:latin typeface="Calibri" pitchFamily="34" charset="0"/>
                <a:ea typeface="Calibri" pitchFamily="34" charset="-122"/>
                <a:cs typeface="Calibri" pitchFamily="34" charset="-120"/>
              </a:rPr>
              <a:t>fast substring search and analysis</a:t>
            </a:r>
            <a:endParaRPr lang="en-US" sz="1300" dirty="0"/>
          </a:p>
          <a:p>
            <a:pPr algn="l" indent="0" marL="0">
              <a:spcAft>
                <a:spcPts val="900"/>
              </a:spcAft>
              <a:buNone/>
            </a:pPr>
            <a:r>
              <a:rPr lang="en-US" sz="1300" b="1" dirty="0">
                <a:solidFill>
                  <a:srgbClr val="C00000"/>
                </a:solidFill>
                <a:latin typeface="Calibri" pitchFamily="34" charset="0"/>
                <a:ea typeface="Calibri" pitchFamily="34" charset="-122"/>
                <a:cs typeface="Calibri" pitchFamily="34" charset="-120"/>
              </a:rPr>
              <a:t>Comparison: </a:t>
            </a:r>
            <a:pPr algn="l" indent="0" marL="0">
              <a:spcAft>
                <a:spcPts val="900"/>
              </a:spcAft>
              <a:buNone/>
            </a:pPr>
            <a:r>
              <a:rPr lang="en-US" sz="1300" dirty="0">
                <a:solidFill>
                  <a:srgbClr val="2B2B2B"/>
                </a:solidFill>
                <a:latin typeface="Calibri" pitchFamily="34" charset="0"/>
                <a:ea typeface="Calibri" pitchFamily="34" charset="-122"/>
                <a:cs typeface="Calibri" pitchFamily="34" charset="-120"/>
              </a:rPr>
              <a:t>naive vs optimized execution time</a:t>
            </a:r>
            <a:endParaRPr lang="en-US" sz="1300" dirty="0"/>
          </a:p>
          <a:p>
            <a:pPr algn="l" indent="0" marL="0">
              <a:spcAft>
                <a:spcPts val="900"/>
              </a:spcAft>
              <a:buNone/>
            </a:pPr>
            <a:r>
              <a:rPr lang="en-US" sz="1300" b="1" dirty="0">
                <a:solidFill>
                  <a:srgbClr val="C00000"/>
                </a:solidFill>
                <a:latin typeface="Calibri" pitchFamily="34" charset="0"/>
                <a:ea typeface="Calibri" pitchFamily="34" charset="-122"/>
                <a:cs typeface="Calibri" pitchFamily="34" charset="-120"/>
              </a:rPr>
              <a:t>Visualization: </a:t>
            </a:r>
            <a:pPr algn="l" indent="0" marL="0">
              <a:spcAft>
                <a:spcPts val="900"/>
              </a:spcAft>
              <a:buNone/>
            </a:pPr>
            <a:r>
              <a:rPr lang="en-US" sz="1300" dirty="0">
                <a:solidFill>
                  <a:srgbClr val="2B2B2B"/>
                </a:solidFill>
                <a:latin typeface="Calibri" pitchFamily="34" charset="0"/>
                <a:ea typeface="Calibri" pitchFamily="34" charset="-122"/>
                <a:cs typeface="Calibri" pitchFamily="34" charset="-120"/>
              </a:rPr>
              <a:t>show suffix and LCP arrays together</a:t>
            </a:r>
            <a:endParaRPr lang="en-US" sz="1300" dirty="0"/>
          </a:p>
          <a:p>
            <a:pPr algn="l" indent="0" marL="0">
              <a:spcAft>
                <a:spcPts val="900"/>
              </a:spcAft>
              <a:buNone/>
            </a:pPr>
            <a:r>
              <a:rPr lang="en-US" sz="1300" b="1" dirty="0">
                <a:solidFill>
                  <a:srgbClr val="C00000"/>
                </a:solidFill>
                <a:latin typeface="Calibri" pitchFamily="34" charset="0"/>
                <a:ea typeface="Calibri" pitchFamily="34" charset="-122"/>
                <a:cs typeface="Calibri" pitchFamily="34" charset="-120"/>
              </a:rPr>
              <a:t>Applications: </a:t>
            </a:r>
            <a:pPr algn="l" indent="0" marL="0">
              <a:spcAft>
                <a:spcPts val="900"/>
              </a:spcAft>
              <a:buNone/>
            </a:pPr>
            <a:r>
              <a:rPr lang="en-US" sz="1300" dirty="0">
                <a:solidFill>
                  <a:srgbClr val="2B2B2B"/>
                </a:solidFill>
                <a:latin typeface="Calibri" pitchFamily="34" charset="0"/>
                <a:ea typeface="Calibri" pitchFamily="34" charset="-122"/>
                <a:cs typeface="Calibri" pitchFamily="34" charset="-120"/>
              </a:rPr>
              <a:t>compression, analytics, pattern detection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6949440" cy="548640"/>
          </a:xfrm>
          <a:prstGeom prst="rect">
            <a:avLst/>
          </a:prstGeom>
          <a:noFill/>
          <a:ln/>
        </p:spPr>
        <p:txBody>
          <a:bodyPr wrap="square" lIns="0" tIns="0" rIns="0" bIns="0" rtlCol="0" anchor="ctr"/>
          <a:lstStyle/>
          <a:p>
            <a:pPr indent="0" marL="0">
              <a:buNone/>
            </a:pPr>
            <a:r>
              <a:rPr lang="en-US" sz="2800" b="1" dirty="0">
                <a:solidFill>
                  <a:srgbClr val="C00000"/>
                </a:solidFill>
                <a:latin typeface="Cambria" pitchFamily="34" charset="0"/>
                <a:ea typeface="Cambria" pitchFamily="34" charset="-122"/>
                <a:cs typeface="Cambria" pitchFamily="34" charset="-120"/>
              </a:rPr>
              <a:t>Implementation: Suffix Array &amp; Naive LCP</a:t>
            </a:r>
            <a:endParaRPr lang="en-US" sz="2800" dirty="0"/>
          </a:p>
        </p:txBody>
      </p:sp>
      <p:pic>
        <p:nvPicPr>
          <p:cNvPr id="3" name="Image 0" descr="logo-000.jpg">    </p:cNvPr>
          <p:cNvPicPr>
            <a:picLocks noChangeAspect="1"/>
          </p:cNvPicPr>
          <p:nvPr/>
        </p:nvPicPr>
        <p:blipFill>
          <a:blip r:embed="rId1"/>
          <a:stretch>
            <a:fillRect/>
          </a:stretch>
        </p:blipFill>
        <p:spPr>
          <a:xfrm>
            <a:off x="7772400" y="256032"/>
            <a:ext cx="914400" cy="393192"/>
          </a:xfrm>
          <a:prstGeom prst="rect">
            <a:avLst/>
          </a:prstGeom>
        </p:spPr>
      </p:pic>
      <p:sp>
        <p:nvSpPr>
          <p:cNvPr id="4" name="Text 1"/>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DSA-3 • LCP Array Using Suffix Arrays</a:t>
            </a:r>
            <a:endParaRPr lang="en-US" sz="900" dirty="0"/>
          </a:p>
        </p:txBody>
      </p:sp>
      <p:sp>
        <p:nvSpPr>
          <p:cNvPr id="5" name="Text 2"/>
          <p:cNvSpPr txBox="1"/>
          <p:nvPr/>
        </p:nvSpPr>
        <p:spPr>
          <a:xfrm>
            <a:off x="8138160" y="4800600"/>
            <a:ext cx="548640"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7</a:t>
            </a:r>
            <a:endParaRPr lang="en-US" sz="900" dirty="0"/>
          </a:p>
        </p:txBody>
      </p:sp>
      <p:sp>
        <p:nvSpPr>
          <p:cNvPr id="6" name="Text 3"/>
          <p:cNvSpPr txBox="1"/>
          <p:nvPr/>
        </p:nvSpPr>
        <p:spPr>
          <a:xfrm>
            <a:off x="457200" y="914400"/>
            <a:ext cx="5394960" cy="228600"/>
          </a:xfrm>
          <a:prstGeom prst="rect">
            <a:avLst/>
          </a:prstGeom>
          <a:noFill/>
          <a:ln/>
        </p:spPr>
        <p:txBody>
          <a:bodyPr wrap="square" lIns="0" tIns="0" rIns="0" bIns="0" rtlCol="0" anchor="ctr"/>
          <a:lstStyle/>
          <a:p>
            <a:pPr indent="0" marL="0">
              <a:buNone/>
            </a:pPr>
            <a:r>
              <a:rPr lang="en-US" sz="1000" b="1" dirty="0">
                <a:solidFill>
                  <a:srgbClr val="6B6B6B"/>
                </a:solidFill>
                <a:latin typeface="Courier New" pitchFamily="34" charset="0"/>
                <a:ea typeface="Courier New" pitchFamily="34" charset="-122"/>
                <a:cs typeface="Courier New" pitchFamily="34" charset="-120"/>
              </a:rPr>
              <a:t>LCPArray.java</a:t>
            </a:r>
            <a:endParaRPr lang="en-US" sz="1000" dirty="0"/>
          </a:p>
        </p:txBody>
      </p:sp>
      <p:sp>
        <p:nvSpPr>
          <p:cNvPr id="7" name="Text 4"/>
          <p:cNvSpPr txBox="1"/>
          <p:nvPr/>
        </p:nvSpPr>
        <p:spPr>
          <a:xfrm>
            <a:off x="457200" y="1188720"/>
            <a:ext cx="5394960" cy="3520440"/>
          </a:xfrm>
          <a:prstGeom prst="roundRect">
            <a:avLst>
              <a:gd name="adj" fmla="val 2078"/>
            </a:avLst>
          </a:prstGeom>
          <a:solidFill>
            <a:srgbClr val="1E1E1E"/>
          </a:solidFill>
          <a:ln/>
        </p:spPr>
        <p:txBody>
          <a:bodyPr wrap="square" lIns="101600" tIns="152400" rIns="127000" bIns="101600" rtlCol="0" anchor="t"/>
          <a:lstStyle/>
          <a:p>
            <a:pPr algn="l" indent="0" marL="0">
              <a:buNone/>
            </a:pPr>
            <a:r>
              <a:rPr lang="en-US" sz="900" dirty="0">
                <a:solidFill>
                  <a:srgbClr val="6A9955"/>
                </a:solidFill>
                <a:latin typeface="Courier New" pitchFamily="34" charset="0"/>
                <a:ea typeface="Courier New" pitchFamily="34" charset="-122"/>
                <a:cs typeface="Courier New" pitchFamily="34" charset="-120"/>
              </a:rPr>
              <a:t>// Suffix array: sort suffix start-indices</a:t>
            </a:r>
            <a:endParaRPr lang="en-US" sz="900" dirty="0"/>
          </a:p>
          <a:p>
            <a:pPr algn="l" indent="0" marL="0">
              <a:buNone/>
            </a:pPr>
            <a:r>
              <a:rPr lang="en-US" sz="900" dirty="0">
                <a:solidFill>
                  <a:srgbClr val="569CD6"/>
                </a:solidFill>
                <a:latin typeface="Courier New" pitchFamily="34" charset="0"/>
                <a:ea typeface="Courier New" pitchFamily="34" charset="-122"/>
                <a:cs typeface="Courier New" pitchFamily="34" charset="-120"/>
              </a:rPr>
              <a:t>static</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569CD6"/>
                </a:solidFill>
                <a:latin typeface="Courier New" pitchFamily="34" charset="0"/>
                <a:ea typeface="Courier New" pitchFamily="34" charset="-122"/>
                <a:cs typeface="Courier New" pitchFamily="34" charset="-120"/>
              </a:rPr>
              <a:t>int</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CDCAA"/>
                </a:solidFill>
                <a:latin typeface="Courier New" pitchFamily="34" charset="0"/>
                <a:ea typeface="Courier New" pitchFamily="34" charset="-122"/>
                <a:cs typeface="Courier New" pitchFamily="34" charset="-120"/>
              </a:rPr>
              <a:t>buildSuffixArray</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569CD6"/>
                </a:solidFill>
                <a:latin typeface="Courier New" pitchFamily="34" charset="0"/>
                <a:ea typeface="Courier New" pitchFamily="34" charset="-122"/>
                <a:cs typeface="Courier New" pitchFamily="34" charset="-120"/>
              </a:rPr>
              <a:t>String</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s</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a:t>
            </a:r>
            <a:endParaRPr lang="en-US" sz="900" dirty="0"/>
          </a:p>
          <a:p>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569CD6"/>
                </a:solidFill>
                <a:latin typeface="Courier New" pitchFamily="34" charset="0"/>
                <a:ea typeface="Courier New" pitchFamily="34" charset="-122"/>
                <a:cs typeface="Courier New" pitchFamily="34" charset="-120"/>
              </a:rPr>
              <a:t>Integer</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x</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569CD6"/>
                </a:solidFill>
                <a:latin typeface="Courier New" pitchFamily="34" charset="0"/>
                <a:ea typeface="Courier New" pitchFamily="34" charset="-122"/>
                <a:cs typeface="Courier New" pitchFamily="34" charset="-120"/>
              </a:rPr>
              <a:t>new</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569CD6"/>
                </a:solidFill>
                <a:latin typeface="Courier New" pitchFamily="34" charset="0"/>
                <a:ea typeface="Courier New" pitchFamily="34" charset="-122"/>
                <a:cs typeface="Courier New" pitchFamily="34" charset="-120"/>
              </a:rPr>
              <a:t>Integer</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s</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CDCAA"/>
                </a:solidFill>
                <a:latin typeface="Courier New" pitchFamily="34" charset="0"/>
                <a:ea typeface="Courier New" pitchFamily="34" charset="-122"/>
                <a:cs typeface="Courier New" pitchFamily="34" charset="-120"/>
              </a:rPr>
              <a:t>length</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a:t>
            </a:r>
            <a:endParaRPr lang="en-US" sz="900" dirty="0"/>
          </a:p>
          <a:p>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569CD6"/>
                </a:solidFill>
                <a:latin typeface="Courier New" pitchFamily="34" charset="0"/>
                <a:ea typeface="Courier New" pitchFamily="34" charset="-122"/>
                <a:cs typeface="Courier New" pitchFamily="34" charset="-120"/>
              </a:rPr>
              <a:t>for</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569CD6"/>
                </a:solidFill>
                <a:latin typeface="Courier New" pitchFamily="34" charset="0"/>
                <a:ea typeface="Courier New" pitchFamily="34" charset="-122"/>
                <a:cs typeface="Courier New" pitchFamily="34" charset="-120"/>
              </a:rPr>
              <a:t>int</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i</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B5CEA8"/>
                </a:solidFill>
                <a:latin typeface="Courier New" pitchFamily="34" charset="0"/>
                <a:ea typeface="Courier New" pitchFamily="34" charset="-122"/>
                <a:cs typeface="Courier New" pitchFamily="34" charset="-120"/>
              </a:rPr>
              <a:t>0</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i</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&lt;</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s</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CDCAA"/>
                </a:solidFill>
                <a:latin typeface="Courier New" pitchFamily="34" charset="0"/>
                <a:ea typeface="Courier New" pitchFamily="34" charset="-122"/>
                <a:cs typeface="Courier New" pitchFamily="34" charset="-120"/>
              </a:rPr>
              <a:t>length</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i</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x</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i</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i</a:t>
            </a:r>
            <a:pPr algn="l" indent="0" marL="0">
              <a:buNone/>
            </a:pPr>
            <a:r>
              <a:rPr lang="en-US" sz="900" dirty="0">
                <a:solidFill>
                  <a:srgbClr val="D4D4D4"/>
                </a:solidFill>
                <a:latin typeface="Courier New" pitchFamily="34" charset="0"/>
                <a:ea typeface="Courier New" pitchFamily="34" charset="-122"/>
                <a:cs typeface="Courier New" pitchFamily="34" charset="-120"/>
              </a:rPr>
              <a:t>;</a:t>
            </a:r>
            <a:endParaRPr lang="en-US" sz="900" dirty="0"/>
          </a:p>
          <a:p>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Arrays</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CDCAA"/>
                </a:solidFill>
                <a:latin typeface="Courier New" pitchFamily="34" charset="0"/>
                <a:ea typeface="Courier New" pitchFamily="34" charset="-122"/>
                <a:cs typeface="Courier New" pitchFamily="34" charset="-120"/>
              </a:rPr>
              <a:t>sort</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x</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a</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b</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&gt;</a:t>
            </a:r>
            <a:endParaRPr lang="en-US" sz="900" dirty="0"/>
          </a:p>
          <a:p>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s</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CDCAA"/>
                </a:solidFill>
                <a:latin typeface="Courier New" pitchFamily="34" charset="0"/>
                <a:ea typeface="Courier New" pitchFamily="34" charset="-122"/>
                <a:cs typeface="Courier New" pitchFamily="34" charset="-120"/>
              </a:rPr>
              <a:t>substring</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a</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CDCAA"/>
                </a:solidFill>
                <a:latin typeface="Courier New" pitchFamily="34" charset="0"/>
                <a:ea typeface="Courier New" pitchFamily="34" charset="-122"/>
                <a:cs typeface="Courier New" pitchFamily="34" charset="-120"/>
              </a:rPr>
              <a:t>compareTo</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s</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CDCAA"/>
                </a:solidFill>
                <a:latin typeface="Courier New" pitchFamily="34" charset="0"/>
                <a:ea typeface="Courier New" pitchFamily="34" charset="-122"/>
                <a:cs typeface="Courier New" pitchFamily="34" charset="-120"/>
              </a:rPr>
              <a:t>substring</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b</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a:t>
            </a:r>
            <a:endParaRPr lang="en-US" sz="900" dirty="0"/>
          </a:p>
          <a:p>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569CD6"/>
                </a:solidFill>
                <a:latin typeface="Courier New" pitchFamily="34" charset="0"/>
                <a:ea typeface="Courier New" pitchFamily="34" charset="-122"/>
                <a:cs typeface="Courier New" pitchFamily="34" charset="-120"/>
              </a:rPr>
              <a:t>int</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r</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569CD6"/>
                </a:solidFill>
                <a:latin typeface="Courier New" pitchFamily="34" charset="0"/>
                <a:ea typeface="Courier New" pitchFamily="34" charset="-122"/>
                <a:cs typeface="Courier New" pitchFamily="34" charset="-120"/>
              </a:rPr>
              <a:t>new</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569CD6"/>
                </a:solidFill>
                <a:latin typeface="Courier New" pitchFamily="34" charset="0"/>
                <a:ea typeface="Courier New" pitchFamily="34" charset="-122"/>
                <a:cs typeface="Courier New" pitchFamily="34" charset="-120"/>
              </a:rPr>
              <a:t>int</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x</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length</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a:t>
            </a:r>
            <a:endParaRPr lang="en-US" sz="900" dirty="0"/>
          </a:p>
          <a:p>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569CD6"/>
                </a:solidFill>
                <a:latin typeface="Courier New" pitchFamily="34" charset="0"/>
                <a:ea typeface="Courier New" pitchFamily="34" charset="-122"/>
                <a:cs typeface="Courier New" pitchFamily="34" charset="-120"/>
              </a:rPr>
              <a:t>for</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569CD6"/>
                </a:solidFill>
                <a:latin typeface="Courier New" pitchFamily="34" charset="0"/>
                <a:ea typeface="Courier New" pitchFamily="34" charset="-122"/>
                <a:cs typeface="Courier New" pitchFamily="34" charset="-120"/>
              </a:rPr>
              <a:t>int</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i</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B5CEA8"/>
                </a:solidFill>
                <a:latin typeface="Courier New" pitchFamily="34" charset="0"/>
                <a:ea typeface="Courier New" pitchFamily="34" charset="-122"/>
                <a:cs typeface="Courier New" pitchFamily="34" charset="-120"/>
              </a:rPr>
              <a:t>0</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i</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&lt;</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r</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length</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i</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r</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i</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x</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i</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a:t>
            </a:r>
            <a:endParaRPr lang="en-US" sz="900" dirty="0"/>
          </a:p>
          <a:p>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569CD6"/>
                </a:solidFill>
                <a:latin typeface="Courier New" pitchFamily="34" charset="0"/>
                <a:ea typeface="Courier New" pitchFamily="34" charset="-122"/>
                <a:cs typeface="Courier New" pitchFamily="34" charset="-120"/>
              </a:rPr>
              <a:t>return</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r</a:t>
            </a:r>
            <a:pPr algn="l" indent="0" marL="0">
              <a:buNone/>
            </a:pPr>
            <a:r>
              <a:rPr lang="en-US" sz="900" dirty="0">
                <a:solidFill>
                  <a:srgbClr val="D4D4D4"/>
                </a:solidFill>
                <a:latin typeface="Courier New" pitchFamily="34" charset="0"/>
                <a:ea typeface="Courier New" pitchFamily="34" charset="-122"/>
                <a:cs typeface="Courier New" pitchFamily="34" charset="-120"/>
              </a:rPr>
              <a:t>;</a:t>
            </a:r>
            <a:endParaRPr lang="en-US" sz="900" dirty="0"/>
          </a:p>
          <a:p>
            <a:pPr algn="l" indent="0" marL="0">
              <a:buNone/>
            </a:pPr>
            <a:r>
              <a:rPr lang="en-US" sz="900" dirty="0">
                <a:solidFill>
                  <a:srgbClr val="D4D4D4"/>
                </a:solidFill>
                <a:latin typeface="Courier New" pitchFamily="34" charset="0"/>
                <a:ea typeface="Courier New" pitchFamily="34" charset="-122"/>
                <a:cs typeface="Courier New" pitchFamily="34" charset="-120"/>
              </a:rPr>
              <a:t>}</a:t>
            </a:r>
            <a:endParaRPr lang="en-US" sz="900" dirty="0"/>
          </a:p>
          <a:p>
            <a:pPr algn="l" indent="0" marL="0">
              <a:buNone/>
            </a:pPr>
            <a:r>
              <a:rPr lang="en-US" sz="900" dirty="0">
                <a:solidFill>
                  <a:srgbClr val="000000"/>
                </a:solidFill>
                <a:latin typeface="Courier New" pitchFamily="34" charset="0"/>
                <a:ea typeface="Courier New" pitchFamily="34" charset="-122"/>
                <a:cs typeface="Courier New" pitchFamily="34" charset="-120"/>
              </a:rPr>
              <a:t> </a:t>
            </a:r>
            <a:endParaRPr lang="en-US" sz="900" dirty="0"/>
          </a:p>
          <a:p>
            <a:pPr algn="l" indent="0" marL="0">
              <a:buNone/>
            </a:pPr>
            <a:r>
              <a:rPr lang="en-US" sz="900" dirty="0">
                <a:solidFill>
                  <a:srgbClr val="6A9955"/>
                </a:solidFill>
                <a:latin typeface="Courier New" pitchFamily="34" charset="0"/>
                <a:ea typeface="Courier New" pitchFamily="34" charset="-122"/>
                <a:cs typeface="Courier New" pitchFamily="34" charset="-120"/>
              </a:rPr>
              <a:t>// Naive LCP: compare adjacent suffixes</a:t>
            </a:r>
            <a:endParaRPr lang="en-US" sz="900" dirty="0"/>
          </a:p>
          <a:p>
            <a:pPr algn="l" indent="0" marL="0">
              <a:buNone/>
            </a:pPr>
            <a:r>
              <a:rPr lang="en-US" sz="900" dirty="0">
                <a:solidFill>
                  <a:srgbClr val="569CD6"/>
                </a:solidFill>
                <a:latin typeface="Courier New" pitchFamily="34" charset="0"/>
                <a:ea typeface="Courier New" pitchFamily="34" charset="-122"/>
                <a:cs typeface="Courier New" pitchFamily="34" charset="-120"/>
              </a:rPr>
              <a:t>static</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569CD6"/>
                </a:solidFill>
                <a:latin typeface="Courier New" pitchFamily="34" charset="0"/>
                <a:ea typeface="Courier New" pitchFamily="34" charset="-122"/>
                <a:cs typeface="Courier New" pitchFamily="34" charset="-120"/>
              </a:rPr>
              <a:t>int</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CDCAA"/>
                </a:solidFill>
                <a:latin typeface="Courier New" pitchFamily="34" charset="0"/>
                <a:ea typeface="Courier New" pitchFamily="34" charset="-122"/>
                <a:cs typeface="Courier New" pitchFamily="34" charset="-120"/>
              </a:rPr>
              <a:t>naive</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569CD6"/>
                </a:solidFill>
                <a:latin typeface="Courier New" pitchFamily="34" charset="0"/>
                <a:ea typeface="Courier New" pitchFamily="34" charset="-122"/>
                <a:cs typeface="Courier New" pitchFamily="34" charset="-120"/>
              </a:rPr>
              <a:t>String</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s</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569CD6"/>
                </a:solidFill>
                <a:latin typeface="Courier New" pitchFamily="34" charset="0"/>
                <a:ea typeface="Courier New" pitchFamily="34" charset="-122"/>
                <a:cs typeface="Courier New" pitchFamily="34" charset="-120"/>
              </a:rPr>
              <a:t>int</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sa</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a:t>
            </a:r>
            <a:endParaRPr lang="en-US" sz="900" dirty="0"/>
          </a:p>
          <a:p>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569CD6"/>
                </a:solidFill>
                <a:latin typeface="Courier New" pitchFamily="34" charset="0"/>
                <a:ea typeface="Courier New" pitchFamily="34" charset="-122"/>
                <a:cs typeface="Courier New" pitchFamily="34" charset="-120"/>
              </a:rPr>
              <a:t>int</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r</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569CD6"/>
                </a:solidFill>
                <a:latin typeface="Courier New" pitchFamily="34" charset="0"/>
                <a:ea typeface="Courier New" pitchFamily="34" charset="-122"/>
                <a:cs typeface="Courier New" pitchFamily="34" charset="-120"/>
              </a:rPr>
              <a:t>new</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569CD6"/>
                </a:solidFill>
                <a:latin typeface="Courier New" pitchFamily="34" charset="0"/>
                <a:ea typeface="Courier New" pitchFamily="34" charset="-122"/>
                <a:cs typeface="Courier New" pitchFamily="34" charset="-120"/>
              </a:rPr>
              <a:t>int</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s</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CDCAA"/>
                </a:solidFill>
                <a:latin typeface="Courier New" pitchFamily="34" charset="0"/>
                <a:ea typeface="Courier New" pitchFamily="34" charset="-122"/>
                <a:cs typeface="Courier New" pitchFamily="34" charset="-120"/>
              </a:rPr>
              <a:t>length</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a:t>
            </a:r>
            <a:endParaRPr lang="en-US" sz="900" dirty="0"/>
          </a:p>
          <a:p>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569CD6"/>
                </a:solidFill>
                <a:latin typeface="Courier New" pitchFamily="34" charset="0"/>
                <a:ea typeface="Courier New" pitchFamily="34" charset="-122"/>
                <a:cs typeface="Courier New" pitchFamily="34" charset="-120"/>
              </a:rPr>
              <a:t>for</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569CD6"/>
                </a:solidFill>
                <a:latin typeface="Courier New" pitchFamily="34" charset="0"/>
                <a:ea typeface="Courier New" pitchFamily="34" charset="-122"/>
                <a:cs typeface="Courier New" pitchFamily="34" charset="-120"/>
              </a:rPr>
              <a:t>int</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i</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B5CEA8"/>
                </a:solidFill>
                <a:latin typeface="Courier New" pitchFamily="34" charset="0"/>
                <a:ea typeface="Courier New" pitchFamily="34" charset="-122"/>
                <a:cs typeface="Courier New" pitchFamily="34" charset="-120"/>
              </a:rPr>
              <a:t>1</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i</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&lt;</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sa</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length</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i</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a:t>
            </a:r>
            <a:endParaRPr lang="en-US" sz="900" dirty="0"/>
          </a:p>
          <a:p>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569CD6"/>
                </a:solidFill>
                <a:latin typeface="Courier New" pitchFamily="34" charset="0"/>
                <a:ea typeface="Courier New" pitchFamily="34" charset="-122"/>
                <a:cs typeface="Courier New" pitchFamily="34" charset="-120"/>
              </a:rPr>
              <a:t>int</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a</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sa</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i</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B5CEA8"/>
                </a:solidFill>
                <a:latin typeface="Courier New" pitchFamily="34" charset="0"/>
                <a:ea typeface="Courier New" pitchFamily="34" charset="-122"/>
                <a:cs typeface="Courier New" pitchFamily="34" charset="-120"/>
              </a:rPr>
              <a:t>1</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b</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sa</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i</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k</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B5CEA8"/>
                </a:solidFill>
                <a:latin typeface="Courier New" pitchFamily="34" charset="0"/>
                <a:ea typeface="Courier New" pitchFamily="34" charset="-122"/>
                <a:cs typeface="Courier New" pitchFamily="34" charset="-120"/>
              </a:rPr>
              <a:t>0</a:t>
            </a:r>
            <a:pPr algn="l" indent="0" marL="0">
              <a:buNone/>
            </a:pPr>
            <a:r>
              <a:rPr lang="en-US" sz="900" dirty="0">
                <a:solidFill>
                  <a:srgbClr val="D4D4D4"/>
                </a:solidFill>
                <a:latin typeface="Courier New" pitchFamily="34" charset="0"/>
                <a:ea typeface="Courier New" pitchFamily="34" charset="-122"/>
                <a:cs typeface="Courier New" pitchFamily="34" charset="-120"/>
              </a:rPr>
              <a:t>;</a:t>
            </a:r>
            <a:endParaRPr lang="en-US" sz="900" dirty="0"/>
          </a:p>
          <a:p>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569CD6"/>
                </a:solidFill>
                <a:latin typeface="Courier New" pitchFamily="34" charset="0"/>
                <a:ea typeface="Courier New" pitchFamily="34" charset="-122"/>
                <a:cs typeface="Courier New" pitchFamily="34" charset="-120"/>
              </a:rPr>
              <a:t>while</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a</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k</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&lt;</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s</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CDCAA"/>
                </a:solidFill>
                <a:latin typeface="Courier New" pitchFamily="34" charset="0"/>
                <a:ea typeface="Courier New" pitchFamily="34" charset="-122"/>
                <a:cs typeface="Courier New" pitchFamily="34" charset="-120"/>
              </a:rPr>
              <a:t>length</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&amp;</a:t>
            </a:r>
            <a:pPr algn="l" indent="0" marL="0">
              <a:buNone/>
            </a:pPr>
            <a:r>
              <a:rPr lang="en-US" sz="900" dirty="0">
                <a:solidFill>
                  <a:srgbClr val="D4D4D4"/>
                </a:solidFill>
                <a:latin typeface="Courier New" pitchFamily="34" charset="0"/>
                <a:ea typeface="Courier New" pitchFamily="34" charset="-122"/>
                <a:cs typeface="Courier New" pitchFamily="34" charset="-120"/>
              </a:rPr>
              <a:t>&amp;</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b</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k</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&lt;</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s</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CDCAA"/>
                </a:solidFill>
                <a:latin typeface="Courier New" pitchFamily="34" charset="0"/>
                <a:ea typeface="Courier New" pitchFamily="34" charset="-122"/>
                <a:cs typeface="Courier New" pitchFamily="34" charset="-120"/>
              </a:rPr>
              <a:t>length</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a:t>
            </a:r>
            <a:endParaRPr lang="en-US" sz="900" dirty="0"/>
          </a:p>
          <a:p>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&amp;</a:t>
            </a:r>
            <a:pPr algn="l" indent="0" marL="0">
              <a:buNone/>
            </a:pPr>
            <a:r>
              <a:rPr lang="en-US" sz="900" dirty="0">
                <a:solidFill>
                  <a:srgbClr val="D4D4D4"/>
                </a:solidFill>
                <a:latin typeface="Courier New" pitchFamily="34" charset="0"/>
                <a:ea typeface="Courier New" pitchFamily="34" charset="-122"/>
                <a:cs typeface="Courier New" pitchFamily="34" charset="-120"/>
              </a:rPr>
              <a:t>&amp;</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s</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CDCAA"/>
                </a:solidFill>
                <a:latin typeface="Courier New" pitchFamily="34" charset="0"/>
                <a:ea typeface="Courier New" pitchFamily="34" charset="-122"/>
                <a:cs typeface="Courier New" pitchFamily="34" charset="-120"/>
              </a:rPr>
              <a:t>charAt</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a</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k</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s</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CDCAA"/>
                </a:solidFill>
                <a:latin typeface="Courier New" pitchFamily="34" charset="0"/>
                <a:ea typeface="Courier New" pitchFamily="34" charset="-122"/>
                <a:cs typeface="Courier New" pitchFamily="34" charset="-120"/>
              </a:rPr>
              <a:t>charAt</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b</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k</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k</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a:t>
            </a:r>
            <a:endParaRPr lang="en-US" sz="900" dirty="0"/>
          </a:p>
          <a:p>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r</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i</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k</a:t>
            </a:r>
            <a:pPr algn="l" indent="0" marL="0">
              <a:buNone/>
            </a:pPr>
            <a:r>
              <a:rPr lang="en-US" sz="900" dirty="0">
                <a:solidFill>
                  <a:srgbClr val="D4D4D4"/>
                </a:solidFill>
                <a:latin typeface="Courier New" pitchFamily="34" charset="0"/>
                <a:ea typeface="Courier New" pitchFamily="34" charset="-122"/>
                <a:cs typeface="Courier New" pitchFamily="34" charset="-120"/>
              </a:rPr>
              <a:t>;</a:t>
            </a:r>
            <a:endParaRPr lang="en-US" sz="900" dirty="0"/>
          </a:p>
          <a:p>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a:t>
            </a:r>
            <a:endParaRPr lang="en-US" sz="900" dirty="0"/>
          </a:p>
          <a:p>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569CD6"/>
                </a:solidFill>
                <a:latin typeface="Courier New" pitchFamily="34" charset="0"/>
                <a:ea typeface="Courier New" pitchFamily="34" charset="-122"/>
                <a:cs typeface="Courier New" pitchFamily="34" charset="-120"/>
              </a:rPr>
              <a:t>return</a:t>
            </a:r>
            <a:pPr algn="l" indent="0" marL="0">
              <a:buNone/>
            </a:pPr>
            <a:r>
              <a:rPr lang="en-US" sz="900" dirty="0">
                <a:solidFill>
                  <a:srgbClr val="D4D4D4"/>
                </a:solidFill>
                <a:latin typeface="Courier New" pitchFamily="34" charset="0"/>
                <a:ea typeface="Courier New" pitchFamily="34" charset="-122"/>
                <a:cs typeface="Courier New" pitchFamily="34" charset="-120"/>
              </a:rPr>
              <a:t> </a:t>
            </a:r>
            <a:pPr algn="l" indent="0" marL="0">
              <a:buNone/>
            </a:pPr>
            <a:r>
              <a:rPr lang="en-US" sz="900" dirty="0">
                <a:solidFill>
                  <a:srgbClr val="D4D4D4"/>
                </a:solidFill>
                <a:latin typeface="Courier New" pitchFamily="34" charset="0"/>
                <a:ea typeface="Courier New" pitchFamily="34" charset="-122"/>
                <a:cs typeface="Courier New" pitchFamily="34" charset="-120"/>
              </a:rPr>
              <a:t>r</a:t>
            </a:r>
            <a:pPr algn="l" indent="0" marL="0">
              <a:buNone/>
            </a:pPr>
            <a:r>
              <a:rPr lang="en-US" sz="900" dirty="0">
                <a:solidFill>
                  <a:srgbClr val="D4D4D4"/>
                </a:solidFill>
                <a:latin typeface="Courier New" pitchFamily="34" charset="0"/>
                <a:ea typeface="Courier New" pitchFamily="34" charset="-122"/>
                <a:cs typeface="Courier New" pitchFamily="34" charset="-120"/>
              </a:rPr>
              <a:t>;</a:t>
            </a:r>
            <a:endParaRPr lang="en-US" sz="900" dirty="0"/>
          </a:p>
          <a:p>
            <a:pPr algn="l" indent="0" marL="0">
              <a:buNone/>
            </a:pPr>
            <a:r>
              <a:rPr lang="en-US" sz="900" dirty="0">
                <a:solidFill>
                  <a:srgbClr val="D4D4D4"/>
                </a:solidFill>
                <a:latin typeface="Courier New" pitchFamily="34" charset="0"/>
                <a:ea typeface="Courier New" pitchFamily="34" charset="-122"/>
                <a:cs typeface="Courier New" pitchFamily="34" charset="-120"/>
              </a:rPr>
              <a:t>}</a:t>
            </a:r>
            <a:endParaRPr lang="en-US" sz="900" dirty="0"/>
          </a:p>
        </p:txBody>
      </p:sp>
      <p:sp>
        <p:nvSpPr>
          <p:cNvPr id="8" name="Shape 5"/>
          <p:cNvSpPr/>
          <p:nvPr/>
        </p:nvSpPr>
        <p:spPr>
          <a:xfrm>
            <a:off x="6035040" y="1188720"/>
            <a:ext cx="2651760" cy="3520440"/>
          </a:xfrm>
          <a:prstGeom prst="roundRect">
            <a:avLst>
              <a:gd name="adj" fmla="val 2759"/>
            </a:avLst>
          </a:prstGeom>
          <a:solidFill>
            <a:srgbClr val="FBEAEA"/>
          </a:solidFill>
          <a:ln w="12700">
            <a:solidFill>
              <a:srgbClr val="E6DADA"/>
            </a:solidFill>
            <a:prstDash val="solid"/>
          </a:ln>
        </p:spPr>
      </p:sp>
      <p:sp>
        <p:nvSpPr>
          <p:cNvPr id="9" name="Text 6"/>
          <p:cNvSpPr txBox="1"/>
          <p:nvPr/>
        </p:nvSpPr>
        <p:spPr>
          <a:xfrm>
            <a:off x="6217920" y="1325880"/>
            <a:ext cx="2286000" cy="274320"/>
          </a:xfrm>
          <a:prstGeom prst="rect">
            <a:avLst/>
          </a:prstGeom>
          <a:noFill/>
          <a:ln/>
        </p:spPr>
        <p:txBody>
          <a:bodyPr wrap="square" lIns="0" tIns="0" rIns="0" bIns="0" rtlCol="0" anchor="ctr"/>
          <a:lstStyle/>
          <a:p>
            <a:pPr indent="0" marL="0">
              <a:buNone/>
            </a:pPr>
            <a:r>
              <a:rPr lang="en-US" sz="1400" b="1" dirty="0">
                <a:solidFill>
                  <a:srgbClr val="C00000"/>
                </a:solidFill>
                <a:latin typeface="Calibri" pitchFamily="34" charset="0"/>
                <a:ea typeface="Calibri" pitchFamily="34" charset="-122"/>
                <a:cs typeface="Calibri" pitchFamily="34" charset="-120"/>
              </a:rPr>
              <a:t>How it works</a:t>
            </a:r>
            <a:endParaRPr lang="en-US" sz="1400" dirty="0"/>
          </a:p>
        </p:txBody>
      </p:sp>
      <p:sp>
        <p:nvSpPr>
          <p:cNvPr id="10" name="Text 7"/>
          <p:cNvSpPr txBox="1"/>
          <p:nvPr/>
        </p:nvSpPr>
        <p:spPr>
          <a:xfrm>
            <a:off x="6217920" y="1737360"/>
            <a:ext cx="2286000" cy="2834640"/>
          </a:xfrm>
          <a:prstGeom prst="rect">
            <a:avLst/>
          </a:prstGeom>
          <a:noFill/>
          <a:ln/>
        </p:spPr>
        <p:txBody>
          <a:bodyPr wrap="square" lIns="0" tIns="0" rIns="0" bIns="0" rtlCol="0" anchor="t"/>
          <a:lstStyle/>
          <a:p>
            <a:pPr algn="just" indent="0" marL="0">
              <a:buNone/>
            </a:pPr>
            <a:r>
              <a:rPr lang="en-US" sz="1200" dirty="0">
                <a:solidFill>
                  <a:srgbClr val="2B2B2B"/>
                </a:solidFill>
                <a:latin typeface="Calibri" pitchFamily="34" charset="0"/>
                <a:ea typeface="Calibri" pitchFamily="34" charset="-122"/>
                <a:cs typeface="Calibri" pitchFamily="34" charset="-120"/>
              </a:rPr>
              <a:t>The suffix array sorts all suffix start-indices lexicographically.</a:t>
            </a:r>
            <a:endParaRPr lang="en-US" sz="1200" dirty="0"/>
          </a:p>
          <a:p>
            <a:pPr algn="just" indent="0" marL="0">
              <a:buNone/>
            </a:pPr>
            <a:endParaRPr lang="en-US" sz="1200" dirty="0"/>
          </a:p>
          <a:p>
            <a:pPr algn="just" indent="0" marL="0">
              <a:buNone/>
            </a:pPr>
            <a:r>
              <a:rPr lang="en-US" sz="1200" dirty="0">
                <a:solidFill>
                  <a:srgbClr val="2B2B2B"/>
                </a:solidFill>
                <a:latin typeface="Calibri" pitchFamily="34" charset="0"/>
                <a:ea typeface="Calibri" pitchFamily="34" charset="-122"/>
                <a:cs typeface="Calibri" pitchFamily="34" charset="-120"/>
              </a:rPr>
              <a:t>The naive method walks each pair of adjacent suffixes and counts matching characters from scratch, which gives O(n²) in the worst case.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6949440" cy="548640"/>
          </a:xfrm>
          <a:prstGeom prst="rect">
            <a:avLst/>
          </a:prstGeom>
          <a:noFill/>
          <a:ln/>
        </p:spPr>
        <p:txBody>
          <a:bodyPr wrap="square" lIns="0" tIns="0" rIns="0" bIns="0" rtlCol="0" anchor="ctr"/>
          <a:lstStyle/>
          <a:p>
            <a:pPr indent="0" marL="0">
              <a:buNone/>
            </a:pPr>
            <a:r>
              <a:rPr lang="en-US" sz="2800" b="1" dirty="0">
                <a:solidFill>
                  <a:srgbClr val="C00000"/>
                </a:solidFill>
                <a:latin typeface="Cambria" pitchFamily="34" charset="0"/>
                <a:ea typeface="Cambria" pitchFamily="34" charset="-122"/>
                <a:cs typeface="Cambria" pitchFamily="34" charset="-120"/>
              </a:rPr>
              <a:t>Implementation: Kasai’s Algorithm</a:t>
            </a:r>
            <a:endParaRPr lang="en-US" sz="2800" dirty="0"/>
          </a:p>
        </p:txBody>
      </p:sp>
      <p:pic>
        <p:nvPicPr>
          <p:cNvPr id="3" name="Image 0" descr="logo-000.jpg">    </p:cNvPr>
          <p:cNvPicPr>
            <a:picLocks noChangeAspect="1"/>
          </p:cNvPicPr>
          <p:nvPr/>
        </p:nvPicPr>
        <p:blipFill>
          <a:blip r:embed="rId1"/>
          <a:stretch>
            <a:fillRect/>
          </a:stretch>
        </p:blipFill>
        <p:spPr>
          <a:xfrm>
            <a:off x="7772400" y="256032"/>
            <a:ext cx="914400" cy="393192"/>
          </a:xfrm>
          <a:prstGeom prst="rect">
            <a:avLst/>
          </a:prstGeom>
        </p:spPr>
      </p:pic>
      <p:sp>
        <p:nvSpPr>
          <p:cNvPr id="4" name="Text 1"/>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DSA-3 • LCP Array Using Suffix Arrays</a:t>
            </a:r>
            <a:endParaRPr lang="en-US" sz="900" dirty="0"/>
          </a:p>
        </p:txBody>
      </p:sp>
      <p:sp>
        <p:nvSpPr>
          <p:cNvPr id="5" name="Text 2"/>
          <p:cNvSpPr txBox="1"/>
          <p:nvPr/>
        </p:nvSpPr>
        <p:spPr>
          <a:xfrm>
            <a:off x="8138160" y="4800600"/>
            <a:ext cx="548640"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8</a:t>
            </a:r>
            <a:endParaRPr lang="en-US" sz="900" dirty="0"/>
          </a:p>
        </p:txBody>
      </p:sp>
      <p:sp>
        <p:nvSpPr>
          <p:cNvPr id="6" name="Text 3"/>
          <p:cNvSpPr txBox="1"/>
          <p:nvPr/>
        </p:nvSpPr>
        <p:spPr>
          <a:xfrm>
            <a:off x="457200" y="914400"/>
            <a:ext cx="5394960" cy="228600"/>
          </a:xfrm>
          <a:prstGeom prst="rect">
            <a:avLst/>
          </a:prstGeom>
          <a:noFill/>
          <a:ln/>
        </p:spPr>
        <p:txBody>
          <a:bodyPr wrap="square" lIns="0" tIns="0" rIns="0" bIns="0" rtlCol="0" anchor="ctr"/>
          <a:lstStyle/>
          <a:p>
            <a:pPr indent="0" marL="0">
              <a:buNone/>
            </a:pPr>
            <a:r>
              <a:rPr lang="en-US" sz="1000" b="1" dirty="0">
                <a:solidFill>
                  <a:srgbClr val="6B6B6B"/>
                </a:solidFill>
                <a:latin typeface="Courier New" pitchFamily="34" charset="0"/>
                <a:ea typeface="Courier New" pitchFamily="34" charset="-122"/>
                <a:cs typeface="Courier New" pitchFamily="34" charset="-120"/>
              </a:rPr>
              <a:t>LCPArray.java</a:t>
            </a:r>
            <a:endParaRPr lang="en-US" sz="1000" dirty="0"/>
          </a:p>
        </p:txBody>
      </p:sp>
      <p:sp>
        <p:nvSpPr>
          <p:cNvPr id="7" name="Text 4"/>
          <p:cNvSpPr txBox="1"/>
          <p:nvPr/>
        </p:nvSpPr>
        <p:spPr>
          <a:xfrm>
            <a:off x="457200" y="1188720"/>
            <a:ext cx="5394960" cy="3520440"/>
          </a:xfrm>
          <a:prstGeom prst="roundRect">
            <a:avLst>
              <a:gd name="adj" fmla="val 2078"/>
            </a:avLst>
          </a:prstGeom>
          <a:solidFill>
            <a:srgbClr val="1E1E1E"/>
          </a:solidFill>
          <a:ln/>
        </p:spPr>
        <p:txBody>
          <a:bodyPr wrap="square" lIns="101600" tIns="152400" rIns="127000" bIns="101600" rtlCol="0" anchor="t"/>
          <a:lstStyle/>
          <a:p>
            <a:pPr algn="l" indent="0" marL="0">
              <a:buNone/>
            </a:pPr>
            <a:r>
              <a:rPr lang="en-US" sz="1000" dirty="0">
                <a:solidFill>
                  <a:srgbClr val="6A9955"/>
                </a:solidFill>
                <a:latin typeface="Courier New" pitchFamily="34" charset="0"/>
                <a:ea typeface="Courier New" pitchFamily="34" charset="-122"/>
                <a:cs typeface="Courier New" pitchFamily="34" charset="-120"/>
              </a:rPr>
              <a:t>// Kasai's algorithm: O(n)</a:t>
            </a:r>
            <a:endParaRPr lang="en-US" sz="1000" dirty="0"/>
          </a:p>
          <a:p>
            <a:pPr algn="l" indent="0" marL="0">
              <a:buNone/>
            </a:pPr>
            <a:r>
              <a:rPr lang="en-US" sz="1000" dirty="0">
                <a:solidFill>
                  <a:srgbClr val="569CD6"/>
                </a:solidFill>
                <a:latin typeface="Courier New" pitchFamily="34" charset="0"/>
                <a:ea typeface="Courier New" pitchFamily="34" charset="-122"/>
                <a:cs typeface="Courier New" pitchFamily="34" charset="-120"/>
              </a:rPr>
              <a:t>static</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569CD6"/>
                </a:solidFill>
                <a:latin typeface="Courier New" pitchFamily="34" charset="0"/>
                <a:ea typeface="Courier New" pitchFamily="34" charset="-122"/>
                <a:cs typeface="Courier New" pitchFamily="34" charset="-120"/>
              </a:rPr>
              <a:t>int</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CDCAA"/>
                </a:solidFill>
                <a:latin typeface="Courier New" pitchFamily="34" charset="0"/>
                <a:ea typeface="Courier New" pitchFamily="34" charset="-122"/>
                <a:cs typeface="Courier New" pitchFamily="34" charset="-120"/>
              </a:rPr>
              <a:t>kasai</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569CD6"/>
                </a:solidFill>
                <a:latin typeface="Courier New" pitchFamily="34" charset="0"/>
                <a:ea typeface="Courier New" pitchFamily="34" charset="-122"/>
                <a:cs typeface="Courier New" pitchFamily="34" charset="-120"/>
              </a:rPr>
              <a:t>String</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s</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569CD6"/>
                </a:solidFill>
                <a:latin typeface="Courier New" pitchFamily="34" charset="0"/>
                <a:ea typeface="Courier New" pitchFamily="34" charset="-122"/>
                <a:cs typeface="Courier New" pitchFamily="34" charset="-120"/>
              </a:rPr>
              <a:t>int</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sa</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a:t>
            </a:r>
            <a:endParaRPr lang="en-US" sz="1000" dirty="0"/>
          </a:p>
          <a:p>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569CD6"/>
                </a:solidFill>
                <a:latin typeface="Courier New" pitchFamily="34" charset="0"/>
                <a:ea typeface="Courier New" pitchFamily="34" charset="-122"/>
                <a:cs typeface="Courier New" pitchFamily="34" charset="-120"/>
              </a:rPr>
              <a:t>int</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n</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s</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CDCAA"/>
                </a:solidFill>
                <a:latin typeface="Courier New" pitchFamily="34" charset="0"/>
                <a:ea typeface="Courier New" pitchFamily="34" charset="-122"/>
                <a:cs typeface="Courier New" pitchFamily="34" charset="-120"/>
              </a:rPr>
              <a:t>length</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a:t>
            </a:r>
            <a:endParaRPr lang="en-US" sz="1000" dirty="0"/>
          </a:p>
          <a:p>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569CD6"/>
                </a:solidFill>
                <a:latin typeface="Courier New" pitchFamily="34" charset="0"/>
                <a:ea typeface="Courier New" pitchFamily="34" charset="-122"/>
                <a:cs typeface="Courier New" pitchFamily="34" charset="-120"/>
              </a:rPr>
              <a:t>int</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rank</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569CD6"/>
                </a:solidFill>
                <a:latin typeface="Courier New" pitchFamily="34" charset="0"/>
                <a:ea typeface="Courier New" pitchFamily="34" charset="-122"/>
                <a:cs typeface="Courier New" pitchFamily="34" charset="-120"/>
              </a:rPr>
              <a:t>new</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569CD6"/>
                </a:solidFill>
                <a:latin typeface="Courier New" pitchFamily="34" charset="0"/>
                <a:ea typeface="Courier New" pitchFamily="34" charset="-122"/>
                <a:cs typeface="Courier New" pitchFamily="34" charset="-120"/>
              </a:rPr>
              <a:t>int</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n</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lcp</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569CD6"/>
                </a:solidFill>
                <a:latin typeface="Courier New" pitchFamily="34" charset="0"/>
                <a:ea typeface="Courier New" pitchFamily="34" charset="-122"/>
                <a:cs typeface="Courier New" pitchFamily="34" charset="-120"/>
              </a:rPr>
              <a:t>new</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569CD6"/>
                </a:solidFill>
                <a:latin typeface="Courier New" pitchFamily="34" charset="0"/>
                <a:ea typeface="Courier New" pitchFamily="34" charset="-122"/>
                <a:cs typeface="Courier New" pitchFamily="34" charset="-120"/>
              </a:rPr>
              <a:t>int</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n</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a:t>
            </a:r>
            <a:endParaRPr lang="en-US" sz="1000" dirty="0"/>
          </a:p>
          <a:p>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569CD6"/>
                </a:solidFill>
                <a:latin typeface="Courier New" pitchFamily="34" charset="0"/>
                <a:ea typeface="Courier New" pitchFamily="34" charset="-122"/>
                <a:cs typeface="Courier New" pitchFamily="34" charset="-120"/>
              </a:rPr>
              <a:t>for</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569CD6"/>
                </a:solidFill>
                <a:latin typeface="Courier New" pitchFamily="34" charset="0"/>
                <a:ea typeface="Courier New" pitchFamily="34" charset="-122"/>
                <a:cs typeface="Courier New" pitchFamily="34" charset="-120"/>
              </a:rPr>
              <a:t>int</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i</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B5CEA8"/>
                </a:solidFill>
                <a:latin typeface="Courier New" pitchFamily="34" charset="0"/>
                <a:ea typeface="Courier New" pitchFamily="34" charset="-122"/>
                <a:cs typeface="Courier New" pitchFamily="34" charset="-120"/>
              </a:rPr>
              <a:t>0</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i</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&lt;</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n</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i</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rank</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sa</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i</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i</a:t>
            </a:r>
            <a:pPr algn="l" indent="0" marL="0">
              <a:buNone/>
            </a:pPr>
            <a:r>
              <a:rPr lang="en-US" sz="1000" dirty="0">
                <a:solidFill>
                  <a:srgbClr val="D4D4D4"/>
                </a:solidFill>
                <a:latin typeface="Courier New" pitchFamily="34" charset="0"/>
                <a:ea typeface="Courier New" pitchFamily="34" charset="-122"/>
                <a:cs typeface="Courier New" pitchFamily="34" charset="-120"/>
              </a:rPr>
              <a:t>;</a:t>
            </a:r>
            <a:endParaRPr lang="en-US" sz="1000" dirty="0"/>
          </a:p>
          <a:p>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569CD6"/>
                </a:solidFill>
                <a:latin typeface="Courier New" pitchFamily="34" charset="0"/>
                <a:ea typeface="Courier New" pitchFamily="34" charset="-122"/>
                <a:cs typeface="Courier New" pitchFamily="34" charset="-120"/>
              </a:rPr>
              <a:t>int</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k</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B5CEA8"/>
                </a:solidFill>
                <a:latin typeface="Courier New" pitchFamily="34" charset="0"/>
                <a:ea typeface="Courier New" pitchFamily="34" charset="-122"/>
                <a:cs typeface="Courier New" pitchFamily="34" charset="-120"/>
              </a:rPr>
              <a:t>0</a:t>
            </a:r>
            <a:pPr algn="l" indent="0" marL="0">
              <a:buNone/>
            </a:pPr>
            <a:r>
              <a:rPr lang="en-US" sz="1000" dirty="0">
                <a:solidFill>
                  <a:srgbClr val="D4D4D4"/>
                </a:solidFill>
                <a:latin typeface="Courier New" pitchFamily="34" charset="0"/>
                <a:ea typeface="Courier New" pitchFamily="34" charset="-122"/>
                <a:cs typeface="Courier New" pitchFamily="34" charset="-120"/>
              </a:rPr>
              <a:t>;</a:t>
            </a:r>
            <a:endParaRPr lang="en-US" sz="1000" dirty="0"/>
          </a:p>
          <a:p>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569CD6"/>
                </a:solidFill>
                <a:latin typeface="Courier New" pitchFamily="34" charset="0"/>
                <a:ea typeface="Courier New" pitchFamily="34" charset="-122"/>
                <a:cs typeface="Courier New" pitchFamily="34" charset="-120"/>
              </a:rPr>
              <a:t>for</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569CD6"/>
                </a:solidFill>
                <a:latin typeface="Courier New" pitchFamily="34" charset="0"/>
                <a:ea typeface="Courier New" pitchFamily="34" charset="-122"/>
                <a:cs typeface="Courier New" pitchFamily="34" charset="-120"/>
              </a:rPr>
              <a:t>int</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i</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B5CEA8"/>
                </a:solidFill>
                <a:latin typeface="Courier New" pitchFamily="34" charset="0"/>
                <a:ea typeface="Courier New" pitchFamily="34" charset="-122"/>
                <a:cs typeface="Courier New" pitchFamily="34" charset="-120"/>
              </a:rPr>
              <a:t>0</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i</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&lt;</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n</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i</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a:t>
            </a:r>
            <a:endParaRPr lang="en-US" sz="1000" dirty="0"/>
          </a:p>
          <a:p>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569CD6"/>
                </a:solidFill>
                <a:latin typeface="Courier New" pitchFamily="34" charset="0"/>
                <a:ea typeface="Courier New" pitchFamily="34" charset="-122"/>
                <a:cs typeface="Courier New" pitchFamily="34" charset="-120"/>
              </a:rPr>
              <a:t>int</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q</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rank</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i</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a:t>
            </a:r>
            <a:endParaRPr lang="en-US" sz="1000" dirty="0"/>
          </a:p>
          <a:p>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569CD6"/>
                </a:solidFill>
                <a:latin typeface="Courier New" pitchFamily="34" charset="0"/>
                <a:ea typeface="Courier New" pitchFamily="34" charset="-122"/>
                <a:cs typeface="Courier New" pitchFamily="34" charset="-120"/>
              </a:rPr>
              <a:t>if</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q</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B5CEA8"/>
                </a:solidFill>
                <a:latin typeface="Courier New" pitchFamily="34" charset="0"/>
                <a:ea typeface="Courier New" pitchFamily="34" charset="-122"/>
                <a:cs typeface="Courier New" pitchFamily="34" charset="-120"/>
              </a:rPr>
              <a:t>0</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k</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B5CEA8"/>
                </a:solidFill>
                <a:latin typeface="Courier New" pitchFamily="34" charset="0"/>
                <a:ea typeface="Courier New" pitchFamily="34" charset="-122"/>
                <a:cs typeface="Courier New" pitchFamily="34" charset="-120"/>
              </a:rPr>
              <a:t>0</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569CD6"/>
                </a:solidFill>
                <a:latin typeface="Courier New" pitchFamily="34" charset="0"/>
                <a:ea typeface="Courier New" pitchFamily="34" charset="-122"/>
                <a:cs typeface="Courier New" pitchFamily="34" charset="-120"/>
              </a:rPr>
              <a:t>continue</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a:t>
            </a:r>
            <a:endParaRPr lang="en-US" sz="1000" dirty="0"/>
          </a:p>
          <a:p>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569CD6"/>
                </a:solidFill>
                <a:latin typeface="Courier New" pitchFamily="34" charset="0"/>
                <a:ea typeface="Courier New" pitchFamily="34" charset="-122"/>
                <a:cs typeface="Courier New" pitchFamily="34" charset="-120"/>
              </a:rPr>
              <a:t>int</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j</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sa</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q</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B5CEA8"/>
                </a:solidFill>
                <a:latin typeface="Courier New" pitchFamily="34" charset="0"/>
                <a:ea typeface="Courier New" pitchFamily="34" charset="-122"/>
                <a:cs typeface="Courier New" pitchFamily="34" charset="-120"/>
              </a:rPr>
              <a:t>1</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6A9955"/>
                </a:solidFill>
                <a:latin typeface="Courier New" pitchFamily="34" charset="0"/>
                <a:ea typeface="Courier New" pitchFamily="34" charset="-122"/>
                <a:cs typeface="Courier New" pitchFamily="34" charset="-120"/>
              </a:rPr>
              <a:t>// previous suffix</a:t>
            </a:r>
            <a:endParaRPr lang="en-US" sz="1000" dirty="0"/>
          </a:p>
          <a:p>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569CD6"/>
                </a:solidFill>
                <a:latin typeface="Courier New" pitchFamily="34" charset="0"/>
                <a:ea typeface="Courier New" pitchFamily="34" charset="-122"/>
                <a:cs typeface="Courier New" pitchFamily="34" charset="-120"/>
              </a:rPr>
              <a:t>while</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i</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k</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&lt;</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n</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&amp;</a:t>
            </a:r>
            <a:pPr algn="l" indent="0" marL="0">
              <a:buNone/>
            </a:pPr>
            <a:r>
              <a:rPr lang="en-US" sz="1000" dirty="0">
                <a:solidFill>
                  <a:srgbClr val="D4D4D4"/>
                </a:solidFill>
                <a:latin typeface="Courier New" pitchFamily="34" charset="0"/>
                <a:ea typeface="Courier New" pitchFamily="34" charset="-122"/>
                <a:cs typeface="Courier New" pitchFamily="34" charset="-120"/>
              </a:rPr>
              <a:t>&amp;</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j</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k</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&lt;</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n</a:t>
            </a:r>
            <a:endParaRPr lang="en-US" sz="1000" dirty="0"/>
          </a:p>
          <a:p>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&amp;</a:t>
            </a:r>
            <a:pPr algn="l" indent="0" marL="0">
              <a:buNone/>
            </a:pPr>
            <a:r>
              <a:rPr lang="en-US" sz="1000" dirty="0">
                <a:solidFill>
                  <a:srgbClr val="D4D4D4"/>
                </a:solidFill>
                <a:latin typeface="Courier New" pitchFamily="34" charset="0"/>
                <a:ea typeface="Courier New" pitchFamily="34" charset="-122"/>
                <a:cs typeface="Courier New" pitchFamily="34" charset="-120"/>
              </a:rPr>
              <a:t>&amp;</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s</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CDCAA"/>
                </a:solidFill>
                <a:latin typeface="Courier New" pitchFamily="34" charset="0"/>
                <a:ea typeface="Courier New" pitchFamily="34" charset="-122"/>
                <a:cs typeface="Courier New" pitchFamily="34" charset="-120"/>
              </a:rPr>
              <a:t>charAt</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i</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k</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s</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CDCAA"/>
                </a:solidFill>
                <a:latin typeface="Courier New" pitchFamily="34" charset="0"/>
                <a:ea typeface="Courier New" pitchFamily="34" charset="-122"/>
                <a:cs typeface="Courier New" pitchFamily="34" charset="-120"/>
              </a:rPr>
              <a:t>charAt</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j</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k</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k</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a:t>
            </a:r>
            <a:endParaRPr lang="en-US" sz="1000" dirty="0"/>
          </a:p>
          <a:p>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lcp</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q</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k</a:t>
            </a:r>
            <a:pPr algn="l" indent="0" marL="0">
              <a:buNone/>
            </a:pPr>
            <a:r>
              <a:rPr lang="en-US" sz="1000" dirty="0">
                <a:solidFill>
                  <a:srgbClr val="D4D4D4"/>
                </a:solidFill>
                <a:latin typeface="Courier New" pitchFamily="34" charset="0"/>
                <a:ea typeface="Courier New" pitchFamily="34" charset="-122"/>
                <a:cs typeface="Courier New" pitchFamily="34" charset="-120"/>
              </a:rPr>
              <a:t>;</a:t>
            </a:r>
            <a:endParaRPr lang="en-US" sz="1000" dirty="0"/>
          </a:p>
          <a:p>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569CD6"/>
                </a:solidFill>
                <a:latin typeface="Courier New" pitchFamily="34" charset="0"/>
                <a:ea typeface="Courier New" pitchFamily="34" charset="-122"/>
                <a:cs typeface="Courier New" pitchFamily="34" charset="-120"/>
              </a:rPr>
              <a:t>if</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k</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&gt;</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B5CEA8"/>
                </a:solidFill>
                <a:latin typeface="Courier New" pitchFamily="34" charset="0"/>
                <a:ea typeface="Courier New" pitchFamily="34" charset="-122"/>
                <a:cs typeface="Courier New" pitchFamily="34" charset="-120"/>
              </a:rPr>
              <a:t>0</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k</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6A9955"/>
                </a:solidFill>
                <a:latin typeface="Courier New" pitchFamily="34" charset="0"/>
                <a:ea typeface="Courier New" pitchFamily="34" charset="-122"/>
                <a:cs typeface="Courier New" pitchFamily="34" charset="-120"/>
              </a:rPr>
              <a:t>// reuse prefix info</a:t>
            </a:r>
            <a:endParaRPr lang="en-US" sz="1000" dirty="0"/>
          </a:p>
          <a:p>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a:t>
            </a:r>
            <a:endParaRPr lang="en-US" sz="1000" dirty="0"/>
          </a:p>
          <a:p>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569CD6"/>
                </a:solidFill>
                <a:latin typeface="Courier New" pitchFamily="34" charset="0"/>
                <a:ea typeface="Courier New" pitchFamily="34" charset="-122"/>
                <a:cs typeface="Courier New" pitchFamily="34" charset="-120"/>
              </a:rPr>
              <a:t>return</a:t>
            </a:r>
            <a:pPr algn="l" indent="0" marL="0">
              <a:buNone/>
            </a:pPr>
            <a:r>
              <a:rPr lang="en-US" sz="1000" dirty="0">
                <a:solidFill>
                  <a:srgbClr val="D4D4D4"/>
                </a:solidFill>
                <a:latin typeface="Courier New" pitchFamily="34" charset="0"/>
                <a:ea typeface="Courier New" pitchFamily="34" charset="-122"/>
                <a:cs typeface="Courier New" pitchFamily="34" charset="-120"/>
              </a:rPr>
              <a:t> </a:t>
            </a:r>
            <a:pPr algn="l" indent="0" marL="0">
              <a:buNone/>
            </a:pPr>
            <a:r>
              <a:rPr lang="en-US" sz="1000" dirty="0">
                <a:solidFill>
                  <a:srgbClr val="D4D4D4"/>
                </a:solidFill>
                <a:latin typeface="Courier New" pitchFamily="34" charset="0"/>
                <a:ea typeface="Courier New" pitchFamily="34" charset="-122"/>
                <a:cs typeface="Courier New" pitchFamily="34" charset="-120"/>
              </a:rPr>
              <a:t>lcp</a:t>
            </a:r>
            <a:pPr algn="l" indent="0" marL="0">
              <a:buNone/>
            </a:pPr>
            <a:r>
              <a:rPr lang="en-US" sz="1000" dirty="0">
                <a:solidFill>
                  <a:srgbClr val="D4D4D4"/>
                </a:solidFill>
                <a:latin typeface="Courier New" pitchFamily="34" charset="0"/>
                <a:ea typeface="Courier New" pitchFamily="34" charset="-122"/>
                <a:cs typeface="Courier New" pitchFamily="34" charset="-120"/>
              </a:rPr>
              <a:t>;</a:t>
            </a:r>
            <a:endParaRPr lang="en-US" sz="1000" dirty="0"/>
          </a:p>
          <a:p>
            <a:pPr algn="l" indent="0" marL="0">
              <a:buNone/>
            </a:pPr>
            <a:r>
              <a:rPr lang="en-US" sz="1000" dirty="0">
                <a:solidFill>
                  <a:srgbClr val="D4D4D4"/>
                </a:solidFill>
                <a:latin typeface="Courier New" pitchFamily="34" charset="0"/>
                <a:ea typeface="Courier New" pitchFamily="34" charset="-122"/>
                <a:cs typeface="Courier New" pitchFamily="34" charset="-120"/>
              </a:rPr>
              <a:t>}</a:t>
            </a:r>
            <a:endParaRPr lang="en-US" sz="1000" dirty="0"/>
          </a:p>
        </p:txBody>
      </p:sp>
      <p:sp>
        <p:nvSpPr>
          <p:cNvPr id="8" name="Shape 5"/>
          <p:cNvSpPr/>
          <p:nvPr/>
        </p:nvSpPr>
        <p:spPr>
          <a:xfrm>
            <a:off x="6035040" y="1188720"/>
            <a:ext cx="2651760" cy="3520440"/>
          </a:xfrm>
          <a:prstGeom prst="roundRect">
            <a:avLst>
              <a:gd name="adj" fmla="val 2759"/>
            </a:avLst>
          </a:prstGeom>
          <a:solidFill>
            <a:srgbClr val="FBEAEA"/>
          </a:solidFill>
          <a:ln w="12700">
            <a:solidFill>
              <a:srgbClr val="E6DADA"/>
            </a:solidFill>
            <a:prstDash val="solid"/>
          </a:ln>
        </p:spPr>
      </p:sp>
      <p:sp>
        <p:nvSpPr>
          <p:cNvPr id="9" name="Text 6"/>
          <p:cNvSpPr txBox="1"/>
          <p:nvPr/>
        </p:nvSpPr>
        <p:spPr>
          <a:xfrm>
            <a:off x="6217920" y="1325880"/>
            <a:ext cx="2286000" cy="274320"/>
          </a:xfrm>
          <a:prstGeom prst="rect">
            <a:avLst/>
          </a:prstGeom>
          <a:noFill/>
          <a:ln/>
        </p:spPr>
        <p:txBody>
          <a:bodyPr wrap="square" lIns="0" tIns="0" rIns="0" bIns="0" rtlCol="0" anchor="ctr"/>
          <a:lstStyle/>
          <a:p>
            <a:pPr indent="0" marL="0">
              <a:buNone/>
            </a:pPr>
            <a:r>
              <a:rPr lang="en-US" sz="1400" b="1" dirty="0">
                <a:solidFill>
                  <a:srgbClr val="C00000"/>
                </a:solidFill>
                <a:latin typeface="Calibri" pitchFamily="34" charset="0"/>
                <a:ea typeface="Calibri" pitchFamily="34" charset="-122"/>
                <a:cs typeface="Calibri" pitchFamily="34" charset="-120"/>
              </a:rPr>
              <a:t>Why it is linear</a:t>
            </a:r>
            <a:endParaRPr lang="en-US" sz="1400" dirty="0"/>
          </a:p>
        </p:txBody>
      </p:sp>
      <p:sp>
        <p:nvSpPr>
          <p:cNvPr id="10" name="Text 7"/>
          <p:cNvSpPr txBox="1"/>
          <p:nvPr/>
        </p:nvSpPr>
        <p:spPr>
          <a:xfrm>
            <a:off x="6217920" y="1737360"/>
            <a:ext cx="2286000" cy="2834640"/>
          </a:xfrm>
          <a:prstGeom prst="rect">
            <a:avLst/>
          </a:prstGeom>
          <a:noFill/>
          <a:ln/>
        </p:spPr>
        <p:txBody>
          <a:bodyPr wrap="square" lIns="0" tIns="0" rIns="0" bIns="0" rtlCol="0" anchor="t"/>
          <a:lstStyle/>
          <a:p>
            <a:pPr algn="just" indent="0" marL="0">
              <a:buNone/>
            </a:pPr>
            <a:r>
              <a:rPr lang="en-US" sz="1200" dirty="0">
                <a:solidFill>
                  <a:srgbClr val="2B2B2B"/>
                </a:solidFill>
                <a:latin typeface="Calibri" pitchFamily="34" charset="0"/>
                <a:ea typeface="Calibri" pitchFamily="34" charset="-122"/>
                <a:cs typeface="Calibri" pitchFamily="34" charset="-120"/>
              </a:rPr>
              <a:t>Suffixes are processed in text order using the inverse suffix array (rank).</a:t>
            </a:r>
            <a:endParaRPr lang="en-US" sz="1200" dirty="0"/>
          </a:p>
          <a:p>
            <a:pPr algn="just" indent="0" marL="0">
              <a:buNone/>
            </a:pPr>
            <a:endParaRPr lang="en-US" sz="1200" dirty="0"/>
          </a:p>
          <a:p>
            <a:pPr algn="just" indent="0" marL="0">
              <a:buNone/>
            </a:pPr>
            <a:r>
              <a:rPr lang="en-US" sz="1200" dirty="0">
                <a:solidFill>
                  <a:srgbClr val="2B2B2B"/>
                </a:solidFill>
                <a:latin typeface="Calibri" pitchFamily="34" charset="0"/>
                <a:ea typeface="Calibri" pitchFamily="34" charset="-122"/>
                <a:cs typeface="Calibri" pitchFamily="34" charset="-120"/>
              </a:rPr>
              <a:t>If suffix i shares k characters with its predecessor, suffix i+1 shares at least k−1. So k only drops by one per step, and total work is O(n).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6949440" cy="548640"/>
          </a:xfrm>
          <a:prstGeom prst="rect">
            <a:avLst/>
          </a:prstGeom>
          <a:noFill/>
          <a:ln/>
        </p:spPr>
        <p:txBody>
          <a:bodyPr wrap="square" lIns="0" tIns="0" rIns="0" bIns="0" rtlCol="0" anchor="ctr"/>
          <a:lstStyle/>
          <a:p>
            <a:pPr indent="0" marL="0">
              <a:buNone/>
            </a:pPr>
            <a:r>
              <a:rPr lang="en-US" sz="2800" b="1" dirty="0">
                <a:solidFill>
                  <a:srgbClr val="C00000"/>
                </a:solidFill>
                <a:latin typeface="Cambria" pitchFamily="34" charset="0"/>
                <a:ea typeface="Cambria" pitchFamily="34" charset="-122"/>
                <a:cs typeface="Cambria" pitchFamily="34" charset="-120"/>
              </a:rPr>
              <a:t>Output: Input "banana"</a:t>
            </a:r>
            <a:endParaRPr lang="en-US" sz="2800" dirty="0"/>
          </a:p>
        </p:txBody>
      </p:sp>
      <p:pic>
        <p:nvPicPr>
          <p:cNvPr id="3" name="Image 0" descr="logo-000.jpg">    </p:cNvPr>
          <p:cNvPicPr>
            <a:picLocks noChangeAspect="1"/>
          </p:cNvPicPr>
          <p:nvPr/>
        </p:nvPicPr>
        <p:blipFill>
          <a:blip r:embed="rId1"/>
          <a:stretch>
            <a:fillRect/>
          </a:stretch>
        </p:blipFill>
        <p:spPr>
          <a:xfrm>
            <a:off x="7772400" y="256032"/>
            <a:ext cx="914400" cy="393192"/>
          </a:xfrm>
          <a:prstGeom prst="rect">
            <a:avLst/>
          </a:prstGeom>
        </p:spPr>
      </p:pic>
      <p:sp>
        <p:nvSpPr>
          <p:cNvPr id="4" name="Text 1"/>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DSA-3 • LCP Array Using Suffix Arrays</a:t>
            </a:r>
            <a:endParaRPr lang="en-US" sz="900" dirty="0"/>
          </a:p>
        </p:txBody>
      </p:sp>
      <p:sp>
        <p:nvSpPr>
          <p:cNvPr id="5" name="Text 2"/>
          <p:cNvSpPr txBox="1"/>
          <p:nvPr/>
        </p:nvSpPr>
        <p:spPr>
          <a:xfrm>
            <a:off x="8138160" y="4800600"/>
            <a:ext cx="548640"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9</a:t>
            </a:r>
            <a:endParaRPr lang="en-US" sz="900" dirty="0"/>
          </a:p>
        </p:txBody>
      </p:sp>
      <p:sp>
        <p:nvSpPr>
          <p:cNvPr id="6" name="Text 3"/>
          <p:cNvSpPr txBox="1"/>
          <p:nvPr/>
        </p:nvSpPr>
        <p:spPr>
          <a:xfrm>
            <a:off x="457200" y="914400"/>
            <a:ext cx="4023360" cy="228600"/>
          </a:xfrm>
          <a:prstGeom prst="rect">
            <a:avLst/>
          </a:prstGeom>
          <a:noFill/>
          <a:ln/>
        </p:spPr>
        <p:txBody>
          <a:bodyPr wrap="square" lIns="0" tIns="0" rIns="0" bIns="0" rtlCol="0" anchor="ctr"/>
          <a:lstStyle/>
          <a:p>
            <a:pPr indent="0" marL="0">
              <a:buNone/>
            </a:pPr>
            <a:r>
              <a:rPr lang="en-US" sz="1000" b="1" dirty="0">
                <a:solidFill>
                  <a:srgbClr val="6B6B6B"/>
                </a:solidFill>
                <a:latin typeface="Courier New" pitchFamily="34" charset="0"/>
                <a:ea typeface="Courier New" pitchFamily="34" charset="-122"/>
                <a:cs typeface="Courier New" pitchFamily="34" charset="-120"/>
              </a:rPr>
              <a:t>Terminal: sorted suffixes</a:t>
            </a:r>
            <a:endParaRPr lang="en-US" sz="1000" dirty="0"/>
          </a:p>
        </p:txBody>
      </p:sp>
      <p:sp>
        <p:nvSpPr>
          <p:cNvPr id="7" name="Text 4"/>
          <p:cNvSpPr txBox="1"/>
          <p:nvPr/>
        </p:nvSpPr>
        <p:spPr>
          <a:xfrm>
            <a:off x="457200" y="1188720"/>
            <a:ext cx="4023360" cy="3520440"/>
          </a:xfrm>
          <a:prstGeom prst="roundRect">
            <a:avLst>
              <a:gd name="adj" fmla="val 2078"/>
            </a:avLst>
          </a:prstGeom>
          <a:solidFill>
            <a:srgbClr val="1E1E1E"/>
          </a:solidFill>
          <a:ln/>
        </p:spPr>
        <p:txBody>
          <a:bodyPr wrap="square" lIns="101600" tIns="152400" rIns="127000" bIns="101600" rtlCol="0" anchor="t"/>
          <a:lstStyle/>
          <a:p>
            <a:pPr algn="l" indent="0" marL="0">
              <a:buNone/>
            </a:pPr>
            <a:r>
              <a:rPr lang="en-US" sz="1100" dirty="0">
                <a:solidFill>
                  <a:srgbClr val="4EC9B0"/>
                </a:solidFill>
                <a:latin typeface="Courier New" pitchFamily="34" charset="0"/>
                <a:ea typeface="Courier New" pitchFamily="34" charset="-122"/>
                <a:cs typeface="Courier New" pitchFamily="34" charset="-120"/>
              </a:rPr>
              <a:t>$ java LCPArray</a:t>
            </a:r>
            <a:endParaRPr lang="en-US" sz="1100" dirty="0"/>
          </a:p>
          <a:p>
            <a:pPr algn="l" indent="0" marL="0">
              <a:buNone/>
            </a:pPr>
            <a:r>
              <a:rPr lang="en-US" sz="1100" dirty="0">
                <a:solidFill>
                  <a:srgbClr val="4EC9B0"/>
                </a:solidFill>
                <a:latin typeface="Courier New" pitchFamily="34" charset="0"/>
                <a:ea typeface="Courier New" pitchFamily="34" charset="-122"/>
                <a:cs typeface="Courier New" pitchFamily="34" charset="-120"/>
              </a:rPr>
              <a:t>Enter a string: banana</a:t>
            </a:r>
            <a:endParaRPr lang="en-US" sz="1100" dirty="0"/>
          </a:p>
          <a:p>
            <a:pPr algn="l" indent="0" marL="0">
              <a:buNone/>
            </a:pPr>
            <a:r>
              <a:rPr lang="en-US" sz="1100" dirty="0">
                <a:solidFill>
                  <a:srgbClr val="D4D4D4"/>
                </a:solidFill>
                <a:latin typeface="Courier New" pitchFamily="34" charset="0"/>
                <a:ea typeface="Courier New" pitchFamily="34" charset="-122"/>
                <a:cs typeface="Courier New" pitchFamily="34" charset="-120"/>
              </a:rPr>
              <a:t> </a:t>
            </a:r>
            <a:endParaRPr lang="en-US" sz="1100" dirty="0"/>
          </a:p>
          <a:p>
            <a:pPr algn="l" indent="0" marL="0">
              <a:buNone/>
            </a:pPr>
            <a:r>
              <a:rPr lang="en-US" sz="1100" dirty="0">
                <a:solidFill>
                  <a:srgbClr val="DCDCAA"/>
                </a:solidFill>
                <a:latin typeface="Courier New" pitchFamily="34" charset="0"/>
                <a:ea typeface="Courier New" pitchFamily="34" charset="-122"/>
                <a:cs typeface="Courier New" pitchFamily="34" charset="-120"/>
              </a:rPr>
              <a:t>SORTED SUFFIXES</a:t>
            </a:r>
            <a:endParaRPr lang="en-US" sz="1100" dirty="0"/>
          </a:p>
          <a:p>
            <a:pPr algn="l" indent="0" marL="0">
              <a:buNone/>
            </a:pPr>
            <a:r>
              <a:rPr lang="en-US" sz="1100" dirty="0">
                <a:solidFill>
                  <a:srgbClr val="D4D4D4"/>
                </a:solidFill>
                <a:latin typeface="Courier New" pitchFamily="34" charset="0"/>
                <a:ea typeface="Courier New" pitchFamily="34" charset="-122"/>
                <a:cs typeface="Courier New" pitchFamily="34" charset="-120"/>
              </a:rPr>
              <a:t>Rank  Index  Suffix   LCP</a:t>
            </a:r>
            <a:endParaRPr lang="en-US" sz="1100" dirty="0"/>
          </a:p>
          <a:p>
            <a:pPr algn="l" indent="0" marL="0">
              <a:buNone/>
            </a:pPr>
            <a:r>
              <a:rPr lang="en-US" sz="1100" dirty="0">
                <a:solidFill>
                  <a:srgbClr val="D4D4D4"/>
                </a:solidFill>
                <a:latin typeface="Courier New" pitchFamily="34" charset="0"/>
                <a:ea typeface="Courier New" pitchFamily="34" charset="-122"/>
                <a:cs typeface="Courier New" pitchFamily="34" charset="-120"/>
              </a:rPr>
              <a:t>0     5      a        0</a:t>
            </a:r>
            <a:endParaRPr lang="en-US" sz="1100" dirty="0"/>
          </a:p>
          <a:p>
            <a:pPr algn="l" indent="0" marL="0">
              <a:buNone/>
            </a:pPr>
            <a:r>
              <a:rPr lang="en-US" sz="1100" dirty="0">
                <a:solidFill>
                  <a:srgbClr val="D4D4D4"/>
                </a:solidFill>
                <a:latin typeface="Courier New" pitchFamily="34" charset="0"/>
                <a:ea typeface="Courier New" pitchFamily="34" charset="-122"/>
                <a:cs typeface="Courier New" pitchFamily="34" charset="-120"/>
              </a:rPr>
              <a:t>1     3      ana      1</a:t>
            </a:r>
            <a:endParaRPr lang="en-US" sz="1100" dirty="0"/>
          </a:p>
          <a:p>
            <a:pPr algn="l" indent="0" marL="0">
              <a:buNone/>
            </a:pPr>
            <a:r>
              <a:rPr lang="en-US" sz="1100" dirty="0">
                <a:solidFill>
                  <a:srgbClr val="D4D4D4"/>
                </a:solidFill>
                <a:latin typeface="Courier New" pitchFamily="34" charset="0"/>
                <a:ea typeface="Courier New" pitchFamily="34" charset="-122"/>
                <a:cs typeface="Courier New" pitchFamily="34" charset="-120"/>
              </a:rPr>
              <a:t>2     1      anana    3</a:t>
            </a:r>
            <a:endParaRPr lang="en-US" sz="1100" dirty="0"/>
          </a:p>
          <a:p>
            <a:pPr algn="l" indent="0" marL="0">
              <a:buNone/>
            </a:pPr>
            <a:r>
              <a:rPr lang="en-US" sz="1100" dirty="0">
                <a:solidFill>
                  <a:srgbClr val="D4D4D4"/>
                </a:solidFill>
                <a:latin typeface="Courier New" pitchFamily="34" charset="0"/>
                <a:ea typeface="Courier New" pitchFamily="34" charset="-122"/>
                <a:cs typeface="Courier New" pitchFamily="34" charset="-120"/>
              </a:rPr>
              <a:t>3     0      banana   0</a:t>
            </a:r>
            <a:endParaRPr lang="en-US" sz="1100" dirty="0"/>
          </a:p>
          <a:p>
            <a:pPr algn="l" indent="0" marL="0">
              <a:buNone/>
            </a:pPr>
            <a:r>
              <a:rPr lang="en-US" sz="1100" dirty="0">
                <a:solidFill>
                  <a:srgbClr val="D4D4D4"/>
                </a:solidFill>
                <a:latin typeface="Courier New" pitchFamily="34" charset="0"/>
                <a:ea typeface="Courier New" pitchFamily="34" charset="-122"/>
                <a:cs typeface="Courier New" pitchFamily="34" charset="-120"/>
              </a:rPr>
              <a:t>4     4      na       0</a:t>
            </a:r>
            <a:endParaRPr lang="en-US" sz="1100" dirty="0"/>
          </a:p>
          <a:p>
            <a:pPr algn="l" indent="0" marL="0">
              <a:buNone/>
            </a:pPr>
            <a:r>
              <a:rPr lang="en-US" sz="1100" dirty="0">
                <a:solidFill>
                  <a:srgbClr val="D4D4D4"/>
                </a:solidFill>
                <a:latin typeface="Courier New" pitchFamily="34" charset="0"/>
                <a:ea typeface="Courier New" pitchFamily="34" charset="-122"/>
                <a:cs typeface="Courier New" pitchFamily="34" charset="-120"/>
              </a:rPr>
              <a:t>5     2      nana     2</a:t>
            </a:r>
            <a:endParaRPr lang="en-US" sz="1100" dirty="0"/>
          </a:p>
        </p:txBody>
      </p:sp>
      <p:sp>
        <p:nvSpPr>
          <p:cNvPr id="8" name="Text 5"/>
          <p:cNvSpPr txBox="1"/>
          <p:nvPr/>
        </p:nvSpPr>
        <p:spPr>
          <a:xfrm>
            <a:off x="4663440" y="914400"/>
            <a:ext cx="4023360" cy="228600"/>
          </a:xfrm>
          <a:prstGeom prst="rect">
            <a:avLst/>
          </a:prstGeom>
          <a:noFill/>
          <a:ln/>
        </p:spPr>
        <p:txBody>
          <a:bodyPr wrap="square" lIns="0" tIns="0" rIns="0" bIns="0" rtlCol="0" anchor="ctr"/>
          <a:lstStyle/>
          <a:p>
            <a:pPr indent="0" marL="0">
              <a:buNone/>
            </a:pPr>
            <a:r>
              <a:rPr lang="en-US" sz="1000" b="1" dirty="0">
                <a:solidFill>
                  <a:srgbClr val="6B6B6B"/>
                </a:solidFill>
                <a:latin typeface="Courier New" pitchFamily="34" charset="0"/>
                <a:ea typeface="Courier New" pitchFamily="34" charset="-122"/>
                <a:cs typeface="Courier New" pitchFamily="34" charset="-120"/>
              </a:rPr>
              <a:t>Terminal: arrays &amp; analysis</a:t>
            </a:r>
            <a:endParaRPr lang="en-US" sz="1000" dirty="0"/>
          </a:p>
        </p:txBody>
      </p:sp>
      <p:sp>
        <p:nvSpPr>
          <p:cNvPr id="9" name="Text 6"/>
          <p:cNvSpPr txBox="1"/>
          <p:nvPr/>
        </p:nvSpPr>
        <p:spPr>
          <a:xfrm>
            <a:off x="4663440" y="1188720"/>
            <a:ext cx="4023360" cy="3520440"/>
          </a:xfrm>
          <a:prstGeom prst="roundRect">
            <a:avLst>
              <a:gd name="adj" fmla="val 2078"/>
            </a:avLst>
          </a:prstGeom>
          <a:solidFill>
            <a:srgbClr val="1E1E1E"/>
          </a:solidFill>
          <a:ln/>
        </p:spPr>
        <p:txBody>
          <a:bodyPr wrap="square" lIns="101600" tIns="152400" rIns="127000" bIns="101600" rtlCol="0" anchor="t"/>
          <a:lstStyle/>
          <a:p>
            <a:pPr algn="l" indent="0" marL="0">
              <a:buNone/>
            </a:pPr>
            <a:r>
              <a:rPr lang="en-US" sz="1100" dirty="0">
                <a:solidFill>
                  <a:srgbClr val="DCDCAA"/>
                </a:solidFill>
                <a:latin typeface="Courier New" pitchFamily="34" charset="0"/>
                <a:ea typeface="Courier New" pitchFamily="34" charset="-122"/>
                <a:cs typeface="Courier New" pitchFamily="34" charset="-120"/>
              </a:rPr>
              <a:t>SUFFIX ARRAY</a:t>
            </a:r>
            <a:endParaRPr lang="en-US" sz="1100" dirty="0"/>
          </a:p>
          <a:p>
            <a:pPr algn="l" indent="0" marL="0">
              <a:buNone/>
            </a:pPr>
            <a:r>
              <a:rPr lang="en-US" sz="1100" dirty="0">
                <a:solidFill>
                  <a:srgbClr val="D4D4D4"/>
                </a:solidFill>
                <a:latin typeface="Courier New" pitchFamily="34" charset="0"/>
                <a:ea typeface="Courier New" pitchFamily="34" charset="-122"/>
                <a:cs typeface="Courier New" pitchFamily="34" charset="-120"/>
              </a:rPr>
              <a:t>[5, 3, 1, 0, 4, 2]</a:t>
            </a:r>
            <a:endParaRPr lang="en-US" sz="1100" dirty="0"/>
          </a:p>
          <a:p>
            <a:pPr algn="l" indent="0" marL="0">
              <a:buNone/>
            </a:pPr>
            <a:r>
              <a:rPr lang="en-US" sz="1100" dirty="0">
                <a:solidFill>
                  <a:srgbClr val="D4D4D4"/>
                </a:solidFill>
                <a:latin typeface="Courier New" pitchFamily="34" charset="0"/>
                <a:ea typeface="Courier New" pitchFamily="34" charset="-122"/>
                <a:cs typeface="Courier New" pitchFamily="34" charset="-120"/>
              </a:rPr>
              <a:t> </a:t>
            </a:r>
            <a:endParaRPr lang="en-US" sz="1100" dirty="0"/>
          </a:p>
          <a:p>
            <a:pPr algn="l" indent="0" marL="0">
              <a:buNone/>
            </a:pPr>
            <a:r>
              <a:rPr lang="en-US" sz="1100" dirty="0">
                <a:solidFill>
                  <a:srgbClr val="DCDCAA"/>
                </a:solidFill>
                <a:latin typeface="Courier New" pitchFamily="34" charset="0"/>
                <a:ea typeface="Courier New" pitchFamily="34" charset="-122"/>
                <a:cs typeface="Courier New" pitchFamily="34" charset="-120"/>
              </a:rPr>
              <a:t>LCP ARRAY</a:t>
            </a:r>
            <a:endParaRPr lang="en-US" sz="1100" dirty="0"/>
          </a:p>
          <a:p>
            <a:pPr algn="l" indent="0" marL="0">
              <a:buNone/>
            </a:pPr>
            <a:r>
              <a:rPr lang="en-US" sz="1100" dirty="0">
                <a:solidFill>
                  <a:srgbClr val="D4D4D4"/>
                </a:solidFill>
                <a:latin typeface="Courier New" pitchFamily="34" charset="0"/>
                <a:ea typeface="Courier New" pitchFamily="34" charset="-122"/>
                <a:cs typeface="Courier New" pitchFamily="34" charset="-120"/>
              </a:rPr>
              <a:t>[0, 1, 3, 0, 0, 2]</a:t>
            </a:r>
            <a:endParaRPr lang="en-US" sz="1100" dirty="0"/>
          </a:p>
          <a:p>
            <a:pPr algn="l" indent="0" marL="0">
              <a:buNone/>
            </a:pPr>
            <a:r>
              <a:rPr lang="en-US" sz="1100" dirty="0">
                <a:solidFill>
                  <a:srgbClr val="D4D4D4"/>
                </a:solidFill>
                <a:latin typeface="Courier New" pitchFamily="34" charset="0"/>
                <a:ea typeface="Courier New" pitchFamily="34" charset="-122"/>
                <a:cs typeface="Courier New" pitchFamily="34" charset="-120"/>
              </a:rPr>
              <a:t> </a:t>
            </a:r>
            <a:endParaRPr lang="en-US" sz="1100" dirty="0"/>
          </a:p>
          <a:p>
            <a:pPr algn="l" indent="0" marL="0">
              <a:buNone/>
            </a:pPr>
            <a:r>
              <a:rPr lang="en-US" sz="1100" dirty="0">
                <a:solidFill>
                  <a:srgbClr val="D4D4D4"/>
                </a:solidFill>
                <a:latin typeface="Courier New" pitchFamily="34" charset="0"/>
                <a:ea typeface="Courier New" pitchFamily="34" charset="-122"/>
                <a:cs typeface="Courier New" pitchFamily="34" charset="-120"/>
              </a:rPr>
              <a:t>Longest LCP value: 3</a:t>
            </a:r>
            <a:endParaRPr lang="en-US" sz="1100" dirty="0"/>
          </a:p>
          <a:p>
            <a:pPr algn="l" indent="0" marL="0">
              <a:buNone/>
            </a:pPr>
            <a:r>
              <a:rPr lang="en-US" sz="1100" dirty="0">
                <a:solidFill>
                  <a:srgbClr val="D4D4D4"/>
                </a:solidFill>
                <a:latin typeface="Courier New" pitchFamily="34" charset="0"/>
                <a:ea typeface="Courier New" pitchFamily="34" charset="-122"/>
                <a:cs typeface="Courier New" pitchFamily="34" charset="-120"/>
              </a:rPr>
              <a:t>Longest repeated substring: ana</a:t>
            </a:r>
            <a:endParaRPr lang="en-US" sz="1100" dirty="0"/>
          </a:p>
          <a:p>
            <a:pPr algn="l" indent="0" marL="0">
              <a:buNone/>
            </a:pPr>
            <a:r>
              <a:rPr lang="en-US" sz="1100" dirty="0">
                <a:solidFill>
                  <a:srgbClr val="D4D4D4"/>
                </a:solidFill>
                <a:latin typeface="Courier New" pitchFamily="34" charset="0"/>
                <a:ea typeface="Courier New" pitchFamily="34" charset="-122"/>
                <a:cs typeface="Courier New" pitchFamily="34" charset="-120"/>
              </a:rPr>
              <a:t> </a:t>
            </a:r>
            <a:endParaRPr lang="en-US" sz="1100" dirty="0"/>
          </a:p>
          <a:p>
            <a:pPr algn="l" indent="0" marL="0">
              <a:buNone/>
            </a:pPr>
            <a:r>
              <a:rPr lang="en-US" sz="1100" dirty="0">
                <a:solidFill>
                  <a:srgbClr val="DCDCAA"/>
                </a:solidFill>
                <a:latin typeface="Courier New" pitchFamily="34" charset="0"/>
                <a:ea typeface="Courier New" pitchFamily="34" charset="-122"/>
                <a:cs typeface="Courier New" pitchFamily="34" charset="-120"/>
              </a:rPr>
              <a:t>PATTERNS</a:t>
            </a:r>
            <a:endParaRPr lang="en-US" sz="1100" dirty="0"/>
          </a:p>
          <a:p>
            <a:pPr algn="l" indent="0" marL="0">
              <a:buNone/>
            </a:pPr>
            <a:r>
              <a:rPr lang="en-US" sz="1100" dirty="0">
                <a:solidFill>
                  <a:srgbClr val="D4D4D4"/>
                </a:solidFill>
                <a:latin typeface="Courier New" pitchFamily="34" charset="0"/>
                <a:ea typeface="Courier New" pitchFamily="34" charset="-122"/>
                <a:cs typeface="Courier New" pitchFamily="34" charset="-120"/>
              </a:rPr>
              <a:t>ana, na</a:t>
            </a:r>
            <a:endParaRPr lang="en-US" sz="1100" dirty="0"/>
          </a:p>
          <a:p>
            <a:pPr algn="l" indent="0" marL="0">
              <a:buNone/>
            </a:pPr>
            <a:r>
              <a:rPr lang="en-US" sz="1100" dirty="0">
                <a:solidFill>
                  <a:srgbClr val="6A9955"/>
                </a:solidFill>
                <a:latin typeface="Courier New" pitchFamily="34" charset="0"/>
                <a:ea typeface="Courier New" pitchFamily="34" charset="-122"/>
                <a:cs typeface="Courier New" pitchFamily="34" charset="-120"/>
              </a:rPr>
              <a:t>Arrays match: true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6949440" cy="548640"/>
          </a:xfrm>
          <a:prstGeom prst="rect">
            <a:avLst/>
          </a:prstGeom>
          <a:noFill/>
          <a:ln/>
        </p:spPr>
        <p:txBody>
          <a:bodyPr wrap="square" lIns="0" tIns="0" rIns="0" bIns="0" rtlCol="0" anchor="ctr"/>
          <a:lstStyle/>
          <a:p>
            <a:pPr indent="0" marL="0">
              <a:buNone/>
            </a:pPr>
            <a:r>
              <a:rPr lang="en-US" sz="2800" b="1" dirty="0">
                <a:solidFill>
                  <a:srgbClr val="C00000"/>
                </a:solidFill>
                <a:latin typeface="Cambria" pitchFamily="34" charset="0"/>
                <a:ea typeface="Cambria" pitchFamily="34" charset="-122"/>
                <a:cs typeface="Cambria" pitchFamily="34" charset="-120"/>
              </a:rPr>
              <a:t>Performance: Naive vs Kasai</a:t>
            </a:r>
            <a:endParaRPr lang="en-US" sz="2800" dirty="0"/>
          </a:p>
        </p:txBody>
      </p:sp>
      <p:pic>
        <p:nvPicPr>
          <p:cNvPr id="3" name="Image 0" descr="logo-000.jpg">    </p:cNvPr>
          <p:cNvPicPr>
            <a:picLocks noChangeAspect="1"/>
          </p:cNvPicPr>
          <p:nvPr/>
        </p:nvPicPr>
        <p:blipFill>
          <a:blip r:embed="rId1"/>
          <a:stretch>
            <a:fillRect/>
          </a:stretch>
        </p:blipFill>
        <p:spPr>
          <a:xfrm>
            <a:off x="7772400" y="256032"/>
            <a:ext cx="914400" cy="393192"/>
          </a:xfrm>
          <a:prstGeom prst="rect">
            <a:avLst/>
          </a:prstGeom>
        </p:spPr>
      </p:pic>
      <p:sp>
        <p:nvSpPr>
          <p:cNvPr id="4" name="Text 1"/>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DSA-3 • LCP Array Using Suffix Arrays</a:t>
            </a:r>
            <a:endParaRPr lang="en-US" sz="900" dirty="0"/>
          </a:p>
        </p:txBody>
      </p:sp>
      <p:sp>
        <p:nvSpPr>
          <p:cNvPr id="5" name="Text 2"/>
          <p:cNvSpPr txBox="1"/>
          <p:nvPr/>
        </p:nvSpPr>
        <p:spPr>
          <a:xfrm>
            <a:off x="8138160" y="4800600"/>
            <a:ext cx="548640"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10</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4206240" cy="914400"/>
        </p:xfrm>
        <a:graphic>
          <a:graphicData uri="http://schemas.openxmlformats.org/drawingml/2006/table">
            <a:tbl>
              <a:tblPr/>
              <a:tblGrid>
                <a:gridCol w="914400"/>
                <a:gridCol w="1097280"/>
                <a:gridCol w="1097280"/>
                <a:gridCol w="1097280"/>
              </a:tblGrid>
              <a:tr h="36576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a:t>
                      </a:r>
                      <a:endParaRPr lang="en-US" sz="1200" dirty="0">
                        <a:latin typeface="Calibri" charset="0"/>
                        <a:ea typeface="Calibri" charset="0"/>
                        <a:cs typeface="Calibri" charset="0"/>
                      </a:endParaRPr>
                    </a:p>
                  </a:txBody>
                  <a:tcPr marL="91440" marR="91440" marT="45720" marB="45720">
                    <a:lnL w="12700" cap="flat" cmpd="sng" algn="ctr">
                      <a:solidFill>
                        <a:srgbClr val="E6DADA"/>
                      </a:solidFill>
                      <a:prstDash val="solid"/>
                      <a:round/>
                      <a:headEnd type="none" w="med" len="med"/>
                      <a:tailEnd type="none" w="med" len="med"/>
                    </a:lnL>
                    <a:lnR w="12700" cap="flat" cmpd="sng" algn="ctr">
                      <a:solidFill>
                        <a:srgbClr val="E6DADA"/>
                      </a:solidFill>
                      <a:prstDash val="solid"/>
                      <a:round/>
                      <a:headEnd type="none" w="med" len="med"/>
                      <a:tailEnd type="none" w="med" len="med"/>
                    </a:lnR>
                    <a:lnT w="12700" cap="flat" cmpd="sng" algn="ctr">
                      <a:solidFill>
                        <a:srgbClr val="E6DADA"/>
                      </a:solidFill>
                      <a:prstDash val="solid"/>
                      <a:round/>
                      <a:headEnd type="none" w="med" len="med"/>
                      <a:tailEnd type="none" w="med" len="med"/>
                    </a:lnT>
                    <a:lnB w="12700" cap="flat" cmpd="sng" algn="ctr">
                      <a:solidFill>
                        <a:srgbClr val="E6DADA"/>
                      </a:solidFill>
                      <a:prstDash val="solid"/>
                      <a:round/>
                      <a:headEnd type="none" w="med" len="med"/>
                      <a:tailEnd type="none" w="med" len="med"/>
                    </a:lnB>
                    <a:solidFill>
                      <a:srgbClr val="C0000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Naive (ms)</a:t>
                      </a:r>
                      <a:endParaRPr lang="en-US" sz="1200" dirty="0">
                        <a:latin typeface="Calibri" charset="0"/>
                        <a:ea typeface="Calibri" charset="0"/>
                        <a:cs typeface="Calibri" charset="0"/>
                      </a:endParaRPr>
                    </a:p>
                  </a:txBody>
                  <a:tcPr marL="91440" marR="91440" marT="45720" marB="45720">
                    <a:lnL w="12700" cap="flat" cmpd="sng" algn="ctr">
                      <a:solidFill>
                        <a:srgbClr val="E6DADA"/>
                      </a:solidFill>
                      <a:prstDash val="solid"/>
                      <a:round/>
                      <a:headEnd type="none" w="med" len="med"/>
                      <a:tailEnd type="none" w="med" len="med"/>
                    </a:lnL>
                    <a:lnR w="12700" cap="flat" cmpd="sng" algn="ctr">
                      <a:solidFill>
                        <a:srgbClr val="E6DADA"/>
                      </a:solidFill>
                      <a:prstDash val="solid"/>
                      <a:round/>
                      <a:headEnd type="none" w="med" len="med"/>
                      <a:tailEnd type="none" w="med" len="med"/>
                    </a:lnR>
                    <a:lnT w="12700" cap="flat" cmpd="sng" algn="ctr">
                      <a:solidFill>
                        <a:srgbClr val="E6DADA"/>
                      </a:solidFill>
                      <a:prstDash val="solid"/>
                      <a:round/>
                      <a:headEnd type="none" w="med" len="med"/>
                      <a:tailEnd type="none" w="med" len="med"/>
                    </a:lnT>
                    <a:lnB w="12700" cap="flat" cmpd="sng" algn="ctr">
                      <a:solidFill>
                        <a:srgbClr val="E6DADA"/>
                      </a:solidFill>
                      <a:prstDash val="solid"/>
                      <a:round/>
                      <a:headEnd type="none" w="med" len="med"/>
                      <a:tailEnd type="none" w="med" len="med"/>
                    </a:lnB>
                    <a:solidFill>
                      <a:srgbClr val="C0000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Kasai (ms)</a:t>
                      </a:r>
                      <a:endParaRPr lang="en-US" sz="1200" dirty="0">
                        <a:latin typeface="Calibri" charset="0"/>
                        <a:ea typeface="Calibri" charset="0"/>
                        <a:cs typeface="Calibri" charset="0"/>
                      </a:endParaRPr>
                    </a:p>
                  </a:txBody>
                  <a:tcPr marL="91440" marR="91440" marT="45720" marB="45720">
                    <a:lnL w="12700" cap="flat" cmpd="sng" algn="ctr">
                      <a:solidFill>
                        <a:srgbClr val="E6DADA"/>
                      </a:solidFill>
                      <a:prstDash val="solid"/>
                      <a:round/>
                      <a:headEnd type="none" w="med" len="med"/>
                      <a:tailEnd type="none" w="med" len="med"/>
                    </a:lnL>
                    <a:lnR w="12700" cap="flat" cmpd="sng" algn="ctr">
                      <a:solidFill>
                        <a:srgbClr val="E6DADA"/>
                      </a:solidFill>
                      <a:prstDash val="solid"/>
                      <a:round/>
                      <a:headEnd type="none" w="med" len="med"/>
                      <a:tailEnd type="none" w="med" len="med"/>
                    </a:lnR>
                    <a:lnT w="12700" cap="flat" cmpd="sng" algn="ctr">
                      <a:solidFill>
                        <a:srgbClr val="E6DADA"/>
                      </a:solidFill>
                      <a:prstDash val="solid"/>
                      <a:round/>
                      <a:headEnd type="none" w="med" len="med"/>
                      <a:tailEnd type="none" w="med" len="med"/>
                    </a:lnT>
                    <a:lnB w="12700" cap="flat" cmpd="sng" algn="ctr">
                      <a:solidFill>
                        <a:srgbClr val="E6DADA"/>
                      </a:solidFill>
                      <a:prstDash val="solid"/>
                      <a:round/>
                      <a:headEnd type="none" w="med" len="med"/>
                      <a:tailEnd type="none" w="med" len="med"/>
                    </a:lnB>
                    <a:solidFill>
                      <a:srgbClr val="C0000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Speed-up</a:t>
                      </a:r>
                      <a:endParaRPr lang="en-US" sz="1200" dirty="0">
                        <a:latin typeface="Calibri" charset="0"/>
                        <a:ea typeface="Calibri" charset="0"/>
                        <a:cs typeface="Calibri" charset="0"/>
                      </a:endParaRPr>
                    </a:p>
                  </a:txBody>
                  <a:tcPr marL="91440" marR="91440" marT="45720" marB="45720">
                    <a:lnL w="12700" cap="flat" cmpd="sng" algn="ctr">
                      <a:solidFill>
                        <a:srgbClr val="E6DADA"/>
                      </a:solidFill>
                      <a:prstDash val="solid"/>
                      <a:round/>
                      <a:headEnd type="none" w="med" len="med"/>
                      <a:tailEnd type="none" w="med" len="med"/>
                    </a:lnL>
                    <a:lnR w="12700" cap="flat" cmpd="sng" algn="ctr">
                      <a:solidFill>
                        <a:srgbClr val="E6DADA"/>
                      </a:solidFill>
                      <a:prstDash val="solid"/>
                      <a:round/>
                      <a:headEnd type="none" w="med" len="med"/>
                      <a:tailEnd type="none" w="med" len="med"/>
                    </a:lnR>
                    <a:lnT w="12700" cap="flat" cmpd="sng" algn="ctr">
                      <a:solidFill>
                        <a:srgbClr val="E6DADA"/>
                      </a:solidFill>
                      <a:prstDash val="solid"/>
                      <a:round/>
                      <a:headEnd type="none" w="med" len="med"/>
                      <a:tailEnd type="none" w="med" len="med"/>
                    </a:lnT>
                    <a:lnB w="12700" cap="flat" cmpd="sng" algn="ctr">
                      <a:solidFill>
                        <a:srgbClr val="E6DADA"/>
                      </a:solidFill>
                      <a:prstDash val="solid"/>
                      <a:round/>
                      <a:headEnd type="none" w="med" len="med"/>
                      <a:tailEnd type="none" w="med" len="med"/>
                    </a:lnB>
                    <a:solidFill>
                      <a:srgbClr val="C00000"/>
                    </a:solidFill>
                  </a:tcPr>
                </a:tc>
              </a:tr>
              <a:tr h="365760">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4,000</a:t>
                      </a:r>
                      <a:endParaRPr lang="en-US" sz="1200" dirty="0">
                        <a:latin typeface="Calibri" charset="0"/>
                        <a:ea typeface="Calibri" charset="0"/>
                        <a:cs typeface="Calibri" charset="0"/>
                      </a:endParaRPr>
                    </a:p>
                  </a:txBody>
                  <a:tcPr marL="91440" marR="91440" marT="45720" marB="45720">
                    <a:lnL w="12700" cap="flat" cmpd="sng" algn="ctr">
                      <a:solidFill>
                        <a:srgbClr val="E6DADA"/>
                      </a:solidFill>
                      <a:prstDash val="solid"/>
                      <a:round/>
                      <a:headEnd type="none" w="med" len="med"/>
                      <a:tailEnd type="none" w="med" len="med"/>
                    </a:lnL>
                    <a:lnR w="12700" cap="flat" cmpd="sng" algn="ctr">
                      <a:solidFill>
                        <a:srgbClr val="E6DADA"/>
                      </a:solidFill>
                      <a:prstDash val="solid"/>
                      <a:round/>
                      <a:headEnd type="none" w="med" len="med"/>
                      <a:tailEnd type="none" w="med" len="med"/>
                    </a:lnR>
                    <a:lnT w="12700" cap="flat" cmpd="sng" algn="ctr">
                      <a:solidFill>
                        <a:srgbClr val="E6DADA"/>
                      </a:solidFill>
                      <a:prstDash val="solid"/>
                      <a:round/>
                      <a:headEnd type="none" w="med" len="med"/>
                      <a:tailEnd type="none" w="med" len="med"/>
                    </a:lnT>
                    <a:lnB w="12700" cap="flat" cmpd="sng" algn="ctr">
                      <a:solidFill>
                        <a:srgbClr val="E6DADA"/>
                      </a:solidFill>
                      <a:prstDash val="solid"/>
                      <a:round/>
                      <a:headEnd type="none" w="med" len="med"/>
                      <a:tailEnd type="none" w="med" len="med"/>
                    </a:lnB>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15.150</a:t>
                      </a:r>
                      <a:endParaRPr lang="en-US" sz="1200" dirty="0">
                        <a:latin typeface="Calibri" charset="0"/>
                        <a:ea typeface="Calibri" charset="0"/>
                        <a:cs typeface="Calibri" charset="0"/>
                      </a:endParaRPr>
                    </a:p>
                  </a:txBody>
                  <a:tcPr marL="91440" marR="91440" marT="45720" marB="45720">
                    <a:lnL w="12700" cap="flat" cmpd="sng" algn="ctr">
                      <a:solidFill>
                        <a:srgbClr val="E6DADA"/>
                      </a:solidFill>
                      <a:prstDash val="solid"/>
                      <a:round/>
                      <a:headEnd type="none" w="med" len="med"/>
                      <a:tailEnd type="none" w="med" len="med"/>
                    </a:lnL>
                    <a:lnR w="12700" cap="flat" cmpd="sng" algn="ctr">
                      <a:solidFill>
                        <a:srgbClr val="E6DADA"/>
                      </a:solidFill>
                      <a:prstDash val="solid"/>
                      <a:round/>
                      <a:headEnd type="none" w="med" len="med"/>
                      <a:tailEnd type="none" w="med" len="med"/>
                    </a:lnR>
                    <a:lnT w="12700" cap="flat" cmpd="sng" algn="ctr">
                      <a:solidFill>
                        <a:srgbClr val="E6DADA"/>
                      </a:solidFill>
                      <a:prstDash val="solid"/>
                      <a:round/>
                      <a:headEnd type="none" w="med" len="med"/>
                      <a:tailEnd type="none" w="med" len="med"/>
                    </a:lnT>
                    <a:lnB w="12700" cap="flat" cmpd="sng" algn="ctr">
                      <a:solidFill>
                        <a:srgbClr val="E6DADA"/>
                      </a:solidFill>
                      <a:prstDash val="solid"/>
                      <a:round/>
                      <a:headEnd type="none" w="med" len="med"/>
                      <a:tailEnd type="none" w="med" len="med"/>
                    </a:lnB>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0.026</a:t>
                      </a:r>
                      <a:endParaRPr lang="en-US" sz="1200" dirty="0">
                        <a:latin typeface="Calibri" charset="0"/>
                        <a:ea typeface="Calibri" charset="0"/>
                        <a:cs typeface="Calibri" charset="0"/>
                      </a:endParaRPr>
                    </a:p>
                  </a:txBody>
                  <a:tcPr marL="91440" marR="91440" marT="45720" marB="45720">
                    <a:lnL w="12700" cap="flat" cmpd="sng" algn="ctr">
                      <a:solidFill>
                        <a:srgbClr val="E6DADA"/>
                      </a:solidFill>
                      <a:prstDash val="solid"/>
                      <a:round/>
                      <a:headEnd type="none" w="med" len="med"/>
                      <a:tailEnd type="none" w="med" len="med"/>
                    </a:lnL>
                    <a:lnR w="12700" cap="flat" cmpd="sng" algn="ctr">
                      <a:solidFill>
                        <a:srgbClr val="E6DADA"/>
                      </a:solidFill>
                      <a:prstDash val="solid"/>
                      <a:round/>
                      <a:headEnd type="none" w="med" len="med"/>
                      <a:tailEnd type="none" w="med" len="med"/>
                    </a:lnR>
                    <a:lnT w="12700" cap="flat" cmpd="sng" algn="ctr">
                      <a:solidFill>
                        <a:srgbClr val="E6DADA"/>
                      </a:solidFill>
                      <a:prstDash val="solid"/>
                      <a:round/>
                      <a:headEnd type="none" w="med" len="med"/>
                      <a:tailEnd type="none" w="med" len="med"/>
                    </a:lnT>
                    <a:lnB w="12700" cap="flat" cmpd="sng" algn="ctr">
                      <a:solidFill>
                        <a:srgbClr val="E6DADA"/>
                      </a:solidFill>
                      <a:prstDash val="solid"/>
                      <a:round/>
                      <a:headEnd type="none" w="med" len="med"/>
                      <a:tailEnd type="none" w="med" len="med"/>
                    </a:lnB>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 590×</a:t>
                      </a:r>
                      <a:endParaRPr lang="en-US" sz="1200" dirty="0">
                        <a:latin typeface="Calibri" charset="0"/>
                        <a:ea typeface="Calibri" charset="0"/>
                        <a:cs typeface="Calibri" charset="0"/>
                      </a:endParaRPr>
                    </a:p>
                  </a:txBody>
                  <a:tcPr marL="91440" marR="91440" marT="45720" marB="45720">
                    <a:lnL w="12700" cap="flat" cmpd="sng" algn="ctr">
                      <a:solidFill>
                        <a:srgbClr val="E6DADA"/>
                      </a:solidFill>
                      <a:prstDash val="solid"/>
                      <a:round/>
                      <a:headEnd type="none" w="med" len="med"/>
                      <a:tailEnd type="none" w="med" len="med"/>
                    </a:lnL>
                    <a:lnR w="12700" cap="flat" cmpd="sng" algn="ctr">
                      <a:solidFill>
                        <a:srgbClr val="E6DADA"/>
                      </a:solidFill>
                      <a:prstDash val="solid"/>
                      <a:round/>
                      <a:headEnd type="none" w="med" len="med"/>
                      <a:tailEnd type="none" w="med" len="med"/>
                    </a:lnR>
                    <a:lnT w="12700" cap="flat" cmpd="sng" algn="ctr">
                      <a:solidFill>
                        <a:srgbClr val="E6DADA"/>
                      </a:solidFill>
                      <a:prstDash val="solid"/>
                      <a:round/>
                      <a:headEnd type="none" w="med" len="med"/>
                      <a:tailEnd type="none" w="med" len="med"/>
                    </a:lnT>
                    <a:lnB w="12700" cap="flat" cmpd="sng" algn="ctr">
                      <a:solidFill>
                        <a:srgbClr val="E6DADA"/>
                      </a:solidFill>
                      <a:prstDash val="solid"/>
                      <a:round/>
                      <a:headEnd type="none" w="med" len="med"/>
                      <a:tailEnd type="none" w="med" len="med"/>
                    </a:lnB>
                  </a:tcPr>
                </a:tc>
              </a:tr>
              <a:tr h="365760">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8,000</a:t>
                      </a:r>
                      <a:endParaRPr lang="en-US" sz="1200" dirty="0">
                        <a:latin typeface="Calibri" charset="0"/>
                        <a:ea typeface="Calibri" charset="0"/>
                        <a:cs typeface="Calibri" charset="0"/>
                      </a:endParaRPr>
                    </a:p>
                  </a:txBody>
                  <a:tcPr marL="91440" marR="91440" marT="45720" marB="45720">
                    <a:lnL w="12700" cap="flat" cmpd="sng" algn="ctr">
                      <a:solidFill>
                        <a:srgbClr val="E6DADA"/>
                      </a:solidFill>
                      <a:prstDash val="solid"/>
                      <a:round/>
                      <a:headEnd type="none" w="med" len="med"/>
                      <a:tailEnd type="none" w="med" len="med"/>
                    </a:lnL>
                    <a:lnR w="12700" cap="flat" cmpd="sng" algn="ctr">
                      <a:solidFill>
                        <a:srgbClr val="E6DADA"/>
                      </a:solidFill>
                      <a:prstDash val="solid"/>
                      <a:round/>
                      <a:headEnd type="none" w="med" len="med"/>
                      <a:tailEnd type="none" w="med" len="med"/>
                    </a:lnR>
                    <a:lnT w="12700" cap="flat" cmpd="sng" algn="ctr">
                      <a:solidFill>
                        <a:srgbClr val="E6DADA"/>
                      </a:solidFill>
                      <a:prstDash val="solid"/>
                      <a:round/>
                      <a:headEnd type="none" w="med" len="med"/>
                      <a:tailEnd type="none" w="med" len="med"/>
                    </a:lnT>
                    <a:lnB w="12700" cap="flat" cmpd="sng" algn="ctr">
                      <a:solidFill>
                        <a:srgbClr val="E6DADA"/>
                      </a:solidFill>
                      <a:prstDash val="solid"/>
                      <a:round/>
                      <a:headEnd type="none" w="med" len="med"/>
                      <a:tailEnd type="none" w="med" len="med"/>
                    </a:lnB>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62.149</a:t>
                      </a:r>
                      <a:endParaRPr lang="en-US" sz="1200" dirty="0">
                        <a:latin typeface="Calibri" charset="0"/>
                        <a:ea typeface="Calibri" charset="0"/>
                        <a:cs typeface="Calibri" charset="0"/>
                      </a:endParaRPr>
                    </a:p>
                  </a:txBody>
                  <a:tcPr marL="91440" marR="91440" marT="45720" marB="45720">
                    <a:lnL w="12700" cap="flat" cmpd="sng" algn="ctr">
                      <a:solidFill>
                        <a:srgbClr val="E6DADA"/>
                      </a:solidFill>
                      <a:prstDash val="solid"/>
                      <a:round/>
                      <a:headEnd type="none" w="med" len="med"/>
                      <a:tailEnd type="none" w="med" len="med"/>
                    </a:lnL>
                    <a:lnR w="12700" cap="flat" cmpd="sng" algn="ctr">
                      <a:solidFill>
                        <a:srgbClr val="E6DADA"/>
                      </a:solidFill>
                      <a:prstDash val="solid"/>
                      <a:round/>
                      <a:headEnd type="none" w="med" len="med"/>
                      <a:tailEnd type="none" w="med" len="med"/>
                    </a:lnR>
                    <a:lnT w="12700" cap="flat" cmpd="sng" algn="ctr">
                      <a:solidFill>
                        <a:srgbClr val="E6DADA"/>
                      </a:solidFill>
                      <a:prstDash val="solid"/>
                      <a:round/>
                      <a:headEnd type="none" w="med" len="med"/>
                      <a:tailEnd type="none" w="med" len="med"/>
                    </a:lnT>
                    <a:lnB w="12700" cap="flat" cmpd="sng" algn="ctr">
                      <a:solidFill>
                        <a:srgbClr val="E6DADA"/>
                      </a:solidFill>
                      <a:prstDash val="solid"/>
                      <a:round/>
                      <a:headEnd type="none" w="med" len="med"/>
                      <a:tailEnd type="none" w="med" len="med"/>
                    </a:lnB>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0.048</a:t>
                      </a:r>
                      <a:endParaRPr lang="en-US" sz="1200" dirty="0">
                        <a:latin typeface="Calibri" charset="0"/>
                        <a:ea typeface="Calibri" charset="0"/>
                        <a:cs typeface="Calibri" charset="0"/>
                      </a:endParaRPr>
                    </a:p>
                  </a:txBody>
                  <a:tcPr marL="91440" marR="91440" marT="45720" marB="45720">
                    <a:lnL w="12700" cap="flat" cmpd="sng" algn="ctr">
                      <a:solidFill>
                        <a:srgbClr val="E6DADA"/>
                      </a:solidFill>
                      <a:prstDash val="solid"/>
                      <a:round/>
                      <a:headEnd type="none" w="med" len="med"/>
                      <a:tailEnd type="none" w="med" len="med"/>
                    </a:lnL>
                    <a:lnR w="12700" cap="flat" cmpd="sng" algn="ctr">
                      <a:solidFill>
                        <a:srgbClr val="E6DADA"/>
                      </a:solidFill>
                      <a:prstDash val="solid"/>
                      <a:round/>
                      <a:headEnd type="none" w="med" len="med"/>
                      <a:tailEnd type="none" w="med" len="med"/>
                    </a:lnR>
                    <a:lnT w="12700" cap="flat" cmpd="sng" algn="ctr">
                      <a:solidFill>
                        <a:srgbClr val="E6DADA"/>
                      </a:solidFill>
                      <a:prstDash val="solid"/>
                      <a:round/>
                      <a:headEnd type="none" w="med" len="med"/>
                      <a:tailEnd type="none" w="med" len="med"/>
                    </a:lnT>
                    <a:lnB w="12700" cap="flat" cmpd="sng" algn="ctr">
                      <a:solidFill>
                        <a:srgbClr val="E6DADA"/>
                      </a:solidFill>
                      <a:prstDash val="solid"/>
                      <a:round/>
                      <a:headEnd type="none" w="med" len="med"/>
                      <a:tailEnd type="none" w="med" len="med"/>
                    </a:lnB>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 1,300×</a:t>
                      </a:r>
                      <a:endParaRPr lang="en-US" sz="1200" dirty="0">
                        <a:latin typeface="Calibri" charset="0"/>
                        <a:ea typeface="Calibri" charset="0"/>
                        <a:cs typeface="Calibri" charset="0"/>
                      </a:endParaRPr>
                    </a:p>
                  </a:txBody>
                  <a:tcPr marL="91440" marR="91440" marT="45720" marB="45720">
                    <a:lnL w="12700" cap="flat" cmpd="sng" algn="ctr">
                      <a:solidFill>
                        <a:srgbClr val="E6DADA"/>
                      </a:solidFill>
                      <a:prstDash val="solid"/>
                      <a:round/>
                      <a:headEnd type="none" w="med" len="med"/>
                      <a:tailEnd type="none" w="med" len="med"/>
                    </a:lnL>
                    <a:lnR w="12700" cap="flat" cmpd="sng" algn="ctr">
                      <a:solidFill>
                        <a:srgbClr val="E6DADA"/>
                      </a:solidFill>
                      <a:prstDash val="solid"/>
                      <a:round/>
                      <a:headEnd type="none" w="med" len="med"/>
                      <a:tailEnd type="none" w="med" len="med"/>
                    </a:lnR>
                    <a:lnT w="12700" cap="flat" cmpd="sng" algn="ctr">
                      <a:solidFill>
                        <a:srgbClr val="E6DADA"/>
                      </a:solidFill>
                      <a:prstDash val="solid"/>
                      <a:round/>
                      <a:headEnd type="none" w="med" len="med"/>
                      <a:tailEnd type="none" w="med" len="med"/>
                    </a:lnT>
                    <a:lnB w="12700" cap="flat" cmpd="sng" algn="ctr">
                      <a:solidFill>
                        <a:srgbClr val="E6DADA"/>
                      </a:solidFill>
                      <a:prstDash val="solid"/>
                      <a:round/>
                      <a:headEnd type="none" w="med" len="med"/>
                      <a:tailEnd type="none" w="med" len="med"/>
                    </a:lnB>
                  </a:tcPr>
                </a:tc>
              </a:tr>
              <a:tr h="365760">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16,000</a:t>
                      </a:r>
                      <a:endParaRPr lang="en-US" sz="1200" dirty="0">
                        <a:latin typeface="Calibri" charset="0"/>
                        <a:ea typeface="Calibri" charset="0"/>
                        <a:cs typeface="Calibri" charset="0"/>
                      </a:endParaRPr>
                    </a:p>
                  </a:txBody>
                  <a:tcPr marL="91440" marR="91440" marT="45720" marB="45720">
                    <a:lnL w="12700" cap="flat" cmpd="sng" algn="ctr">
                      <a:solidFill>
                        <a:srgbClr val="E6DADA"/>
                      </a:solidFill>
                      <a:prstDash val="solid"/>
                      <a:round/>
                      <a:headEnd type="none" w="med" len="med"/>
                      <a:tailEnd type="none" w="med" len="med"/>
                    </a:lnL>
                    <a:lnR w="12700" cap="flat" cmpd="sng" algn="ctr">
                      <a:solidFill>
                        <a:srgbClr val="E6DADA"/>
                      </a:solidFill>
                      <a:prstDash val="solid"/>
                      <a:round/>
                      <a:headEnd type="none" w="med" len="med"/>
                      <a:tailEnd type="none" w="med" len="med"/>
                    </a:lnR>
                    <a:lnT w="12700" cap="flat" cmpd="sng" algn="ctr">
                      <a:solidFill>
                        <a:srgbClr val="E6DADA"/>
                      </a:solidFill>
                      <a:prstDash val="solid"/>
                      <a:round/>
                      <a:headEnd type="none" w="med" len="med"/>
                      <a:tailEnd type="none" w="med" len="med"/>
                    </a:lnT>
                    <a:lnB w="12700" cap="flat" cmpd="sng" algn="ctr">
                      <a:solidFill>
                        <a:srgbClr val="E6DADA"/>
                      </a:solidFill>
                      <a:prstDash val="solid"/>
                      <a:round/>
                      <a:headEnd type="none" w="med" len="med"/>
                      <a:tailEnd type="none" w="med" len="med"/>
                    </a:lnB>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245.978</a:t>
                      </a:r>
                      <a:endParaRPr lang="en-US" sz="1200" dirty="0">
                        <a:latin typeface="Calibri" charset="0"/>
                        <a:ea typeface="Calibri" charset="0"/>
                        <a:cs typeface="Calibri" charset="0"/>
                      </a:endParaRPr>
                    </a:p>
                  </a:txBody>
                  <a:tcPr marL="91440" marR="91440" marT="45720" marB="45720">
                    <a:lnL w="12700" cap="flat" cmpd="sng" algn="ctr">
                      <a:solidFill>
                        <a:srgbClr val="E6DADA"/>
                      </a:solidFill>
                      <a:prstDash val="solid"/>
                      <a:round/>
                      <a:headEnd type="none" w="med" len="med"/>
                      <a:tailEnd type="none" w="med" len="med"/>
                    </a:lnL>
                    <a:lnR w="12700" cap="flat" cmpd="sng" algn="ctr">
                      <a:solidFill>
                        <a:srgbClr val="E6DADA"/>
                      </a:solidFill>
                      <a:prstDash val="solid"/>
                      <a:round/>
                      <a:headEnd type="none" w="med" len="med"/>
                      <a:tailEnd type="none" w="med" len="med"/>
                    </a:lnR>
                    <a:lnT w="12700" cap="flat" cmpd="sng" algn="ctr">
                      <a:solidFill>
                        <a:srgbClr val="E6DADA"/>
                      </a:solidFill>
                      <a:prstDash val="solid"/>
                      <a:round/>
                      <a:headEnd type="none" w="med" len="med"/>
                      <a:tailEnd type="none" w="med" len="med"/>
                    </a:lnT>
                    <a:lnB w="12700" cap="flat" cmpd="sng" algn="ctr">
                      <a:solidFill>
                        <a:srgbClr val="E6DADA"/>
                      </a:solidFill>
                      <a:prstDash val="solid"/>
                      <a:round/>
                      <a:headEnd type="none" w="med" len="med"/>
                      <a:tailEnd type="none" w="med" len="med"/>
                    </a:lnB>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0.094</a:t>
                      </a:r>
                      <a:endParaRPr lang="en-US" sz="1200" dirty="0">
                        <a:latin typeface="Calibri" charset="0"/>
                        <a:ea typeface="Calibri" charset="0"/>
                        <a:cs typeface="Calibri" charset="0"/>
                      </a:endParaRPr>
                    </a:p>
                  </a:txBody>
                  <a:tcPr marL="91440" marR="91440" marT="45720" marB="45720">
                    <a:lnL w="12700" cap="flat" cmpd="sng" algn="ctr">
                      <a:solidFill>
                        <a:srgbClr val="E6DADA"/>
                      </a:solidFill>
                      <a:prstDash val="solid"/>
                      <a:round/>
                      <a:headEnd type="none" w="med" len="med"/>
                      <a:tailEnd type="none" w="med" len="med"/>
                    </a:lnL>
                    <a:lnR w="12700" cap="flat" cmpd="sng" algn="ctr">
                      <a:solidFill>
                        <a:srgbClr val="E6DADA"/>
                      </a:solidFill>
                      <a:prstDash val="solid"/>
                      <a:round/>
                      <a:headEnd type="none" w="med" len="med"/>
                      <a:tailEnd type="none" w="med" len="med"/>
                    </a:lnR>
                    <a:lnT w="12700" cap="flat" cmpd="sng" algn="ctr">
                      <a:solidFill>
                        <a:srgbClr val="E6DADA"/>
                      </a:solidFill>
                      <a:prstDash val="solid"/>
                      <a:round/>
                      <a:headEnd type="none" w="med" len="med"/>
                      <a:tailEnd type="none" w="med" len="med"/>
                    </a:lnT>
                    <a:lnB w="12700" cap="flat" cmpd="sng" algn="ctr">
                      <a:solidFill>
                        <a:srgbClr val="E6DADA"/>
                      </a:solidFill>
                      <a:prstDash val="solid"/>
                      <a:round/>
                      <a:headEnd type="none" w="med" len="med"/>
                      <a:tailEnd type="none" w="med" len="med"/>
                    </a:lnB>
                  </a:tcPr>
                </a:tc>
                <a:tc>
                  <a:txBody>
                    <a:bodyPr/>
                    <a:lstStyle/>
                    <a:p>
                      <a:pPr algn="ctr" indent="0" marL="0">
                        <a:buNone/>
                      </a:pPr>
                      <a:r>
                        <a:rPr lang="en-US" sz="1200" dirty="0">
                          <a:solidFill>
                            <a:srgbClr val="2B2B2B"/>
                          </a:solidFill>
                          <a:latin typeface="Calibri" pitchFamily="34" charset="0"/>
                          <a:ea typeface="Calibri" pitchFamily="34" charset="-122"/>
                          <a:cs typeface="Calibri" pitchFamily="34" charset="-120"/>
                        </a:rPr>
                        <a:t>≈ 2,600×</a:t>
                      </a:r>
                      <a:endParaRPr lang="en-US" sz="1200" dirty="0">
                        <a:latin typeface="Calibri" charset="0"/>
                        <a:ea typeface="Calibri" charset="0"/>
                        <a:cs typeface="Calibri" charset="0"/>
                      </a:endParaRPr>
                    </a:p>
                  </a:txBody>
                  <a:tcPr marL="91440" marR="91440" marT="45720" marB="45720">
                    <a:lnL w="12700" cap="flat" cmpd="sng" algn="ctr">
                      <a:solidFill>
                        <a:srgbClr val="E6DADA"/>
                      </a:solidFill>
                      <a:prstDash val="solid"/>
                      <a:round/>
                      <a:headEnd type="none" w="med" len="med"/>
                      <a:tailEnd type="none" w="med" len="med"/>
                    </a:lnL>
                    <a:lnR w="12700" cap="flat" cmpd="sng" algn="ctr">
                      <a:solidFill>
                        <a:srgbClr val="E6DADA"/>
                      </a:solidFill>
                      <a:prstDash val="solid"/>
                      <a:round/>
                      <a:headEnd type="none" w="med" len="med"/>
                      <a:tailEnd type="none" w="med" len="med"/>
                    </a:lnR>
                    <a:lnT w="12700" cap="flat" cmpd="sng" algn="ctr">
                      <a:solidFill>
                        <a:srgbClr val="E6DADA"/>
                      </a:solidFill>
                      <a:prstDash val="solid"/>
                      <a:round/>
                      <a:headEnd type="none" w="med" len="med"/>
                      <a:tailEnd type="none" w="med" len="med"/>
                    </a:lnT>
                    <a:lnB w="12700" cap="flat" cmpd="sng" algn="ctr">
                      <a:solidFill>
                        <a:srgbClr val="E6DADA"/>
                      </a:solidFill>
                      <a:prstDash val="solid"/>
                      <a:round/>
                      <a:headEnd type="none" w="med" len="med"/>
                      <a:tailEnd type="none" w="med" len="med"/>
                    </a:lnB>
                  </a:tcPr>
                </a:tc>
              </a:tr>
            </a:tbl>
          </a:graphicData>
        </a:graphic>
      </p:graphicFrame>
      <p:sp>
        <p:nvSpPr>
          <p:cNvPr id="7" name="Text 3"/>
          <p:cNvSpPr txBox="1"/>
          <p:nvPr/>
        </p:nvSpPr>
        <p:spPr>
          <a:xfrm>
            <a:off x="457200" y="2880360"/>
            <a:ext cx="4206240" cy="1371600"/>
          </a:xfrm>
          <a:prstGeom prst="rect">
            <a:avLst/>
          </a:prstGeom>
          <a:noFill/>
          <a:ln/>
        </p:spPr>
        <p:txBody>
          <a:bodyPr wrap="square" lIns="0" tIns="0" rIns="0" bIns="0" rtlCol="0" anchor="t"/>
          <a:lstStyle/>
          <a:p>
            <a:pPr algn="just" indent="0" marL="0">
              <a:buNone/>
            </a:pPr>
            <a:r>
              <a:rPr lang="en-US" sz="1200" dirty="0">
                <a:solidFill>
                  <a:srgbClr val="2B2B2B"/>
                </a:solidFill>
                <a:latin typeface="Calibri" pitchFamily="34" charset="0"/>
                <a:ea typeface="Calibri" pitchFamily="34" charset="-122"/>
                <a:cs typeface="Calibri" pitchFamily="34" charset="-120"/>
              </a:rPr>
              <a:t>Doubling n makes the naive time about 4× larger (quadratic) but Kasai only about 2× (linear). Worst case: input "aaa…a", 5-run average after warm-up, Java 21. Timings vary by machine.</a:t>
            </a:r>
            <a:endParaRPr lang="en-US" sz="1200" dirty="0"/>
          </a:p>
        </p:txBody>
      </p:sp>
      <p:graphicFrame>
        <p:nvGraphicFramePr>
          <p:cNvPr id="8" name="Chart 0" descr=""/>
          <p:cNvGraphicFramePr/>
          <p:nvPr/>
        </p:nvGraphicFramePr>
        <p:xfrm>
          <a:off x="4846320" y="1097280"/>
          <a:ext cx="3840480" cy="3566160"/>
        </p:xfrm>
        <a:graphic xmlns:a="http://schemas.openxmlformats.org/drawingml/2006/main">
          <a:graphicData uri="http://schemas.openxmlformats.org/drawingml/2006/chart">
            <c:chart xmlns:c="http://schemas.openxmlformats.org/drawingml/2006/chart" r:id="rId2"/>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6949440" cy="548640"/>
          </a:xfrm>
          <a:prstGeom prst="rect">
            <a:avLst/>
          </a:prstGeom>
          <a:noFill/>
          <a:ln/>
        </p:spPr>
        <p:txBody>
          <a:bodyPr wrap="square" lIns="0" tIns="0" rIns="0" bIns="0" rtlCol="0" anchor="ctr"/>
          <a:lstStyle/>
          <a:p>
            <a:pPr indent="0" marL="0">
              <a:buNone/>
            </a:pPr>
            <a:r>
              <a:rPr lang="en-US" sz="2800" b="1" dirty="0">
                <a:solidFill>
                  <a:srgbClr val="C00000"/>
                </a:solidFill>
                <a:latin typeface="Cambria" pitchFamily="34" charset="0"/>
                <a:ea typeface="Cambria" pitchFamily="34" charset="-122"/>
                <a:cs typeface="Cambria" pitchFamily="34" charset="-120"/>
              </a:rPr>
              <a:t>Hardware &amp; Software Requirements</a:t>
            </a:r>
            <a:endParaRPr lang="en-US" sz="2800" dirty="0"/>
          </a:p>
        </p:txBody>
      </p:sp>
      <p:pic>
        <p:nvPicPr>
          <p:cNvPr id="3" name="Image 0" descr="logo-000.jpg">    </p:cNvPr>
          <p:cNvPicPr>
            <a:picLocks noChangeAspect="1"/>
          </p:cNvPicPr>
          <p:nvPr/>
        </p:nvPicPr>
        <p:blipFill>
          <a:blip r:embed="rId1"/>
          <a:stretch>
            <a:fillRect/>
          </a:stretch>
        </p:blipFill>
        <p:spPr>
          <a:xfrm>
            <a:off x="7772400" y="256032"/>
            <a:ext cx="914400" cy="393192"/>
          </a:xfrm>
          <a:prstGeom prst="rect">
            <a:avLst/>
          </a:prstGeom>
        </p:spPr>
      </p:pic>
      <p:sp>
        <p:nvSpPr>
          <p:cNvPr id="4" name="Text 1"/>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DSA-3 • LCP Array Using Suffix Arrays</a:t>
            </a:r>
            <a:endParaRPr lang="en-US" sz="900" dirty="0"/>
          </a:p>
        </p:txBody>
      </p:sp>
      <p:sp>
        <p:nvSpPr>
          <p:cNvPr id="5" name="Text 2"/>
          <p:cNvSpPr txBox="1"/>
          <p:nvPr/>
        </p:nvSpPr>
        <p:spPr>
          <a:xfrm>
            <a:off x="8138160" y="4800600"/>
            <a:ext cx="548640"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11</a:t>
            </a:r>
            <a:endParaRPr lang="en-US" sz="900" dirty="0"/>
          </a:p>
        </p:txBody>
      </p:sp>
      <p:sp>
        <p:nvSpPr>
          <p:cNvPr id="6" name="Shape 3"/>
          <p:cNvSpPr/>
          <p:nvPr/>
        </p:nvSpPr>
        <p:spPr>
          <a:xfrm>
            <a:off x="457200" y="1097280"/>
            <a:ext cx="4023360" cy="3474720"/>
          </a:xfrm>
          <a:prstGeom prst="roundRect">
            <a:avLst>
              <a:gd name="adj" fmla="val 2105"/>
            </a:avLst>
          </a:prstGeom>
          <a:solidFill>
            <a:srgbClr val="FBEAEA"/>
          </a:solidFill>
          <a:ln w="12700">
            <a:solidFill>
              <a:srgbClr val="E6DADA"/>
            </a:solidFill>
            <a:prstDash val="solid"/>
          </a:ln>
        </p:spPr>
      </p:sp>
      <p:sp>
        <p:nvSpPr>
          <p:cNvPr id="7" name="Text 4"/>
          <p:cNvSpPr txBox="1"/>
          <p:nvPr/>
        </p:nvSpPr>
        <p:spPr>
          <a:xfrm>
            <a:off x="685800" y="1234440"/>
            <a:ext cx="3566160" cy="274320"/>
          </a:xfrm>
          <a:prstGeom prst="rect">
            <a:avLst/>
          </a:prstGeom>
          <a:noFill/>
          <a:ln/>
        </p:spPr>
        <p:txBody>
          <a:bodyPr wrap="square" lIns="0" tIns="0" rIns="0" bIns="0" rtlCol="0" anchor="ctr"/>
          <a:lstStyle/>
          <a:p>
            <a:pPr indent="0" marL="0">
              <a:buNone/>
            </a:pPr>
            <a:r>
              <a:rPr lang="en-US" sz="1400" b="1" dirty="0">
                <a:solidFill>
                  <a:srgbClr val="C00000"/>
                </a:solidFill>
                <a:latin typeface="Calibri" pitchFamily="34" charset="0"/>
                <a:ea typeface="Calibri" pitchFamily="34" charset="-122"/>
                <a:cs typeface="Calibri" pitchFamily="34" charset="-120"/>
              </a:rPr>
              <a:t>Hardware</a:t>
            </a:r>
            <a:endParaRPr lang="en-US" sz="1400" dirty="0"/>
          </a:p>
        </p:txBody>
      </p:sp>
      <p:sp>
        <p:nvSpPr>
          <p:cNvPr id="8" name="Text 5"/>
          <p:cNvSpPr txBox="1"/>
          <p:nvPr/>
        </p:nvSpPr>
        <p:spPr>
          <a:xfrm>
            <a:off x="685800" y="1691640"/>
            <a:ext cx="3566160" cy="2743200"/>
          </a:xfrm>
          <a:prstGeom prst="rect">
            <a:avLst/>
          </a:prstGeom>
          <a:noFill/>
          <a:ln/>
        </p:spPr>
        <p:txBody>
          <a:bodyPr wrap="square" lIns="0" tIns="0" rIns="0" bIns="0" rtlCol="0" anchor="t"/>
          <a:lstStyle/>
          <a:p>
            <a:pPr algn="l" marL="342900" indent="-3429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Processor: Intel i3 / AMD equivalent, 2 GHz or higher</a:t>
            </a:r>
            <a:endParaRPr lang="en-US" sz="1300" dirty="0"/>
          </a:p>
          <a:p>
            <a:pPr algn="l" marL="342900" indent="-3429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RAM: 4 GB (8 GB recommended for large datasets)</a:t>
            </a:r>
            <a:endParaRPr lang="en-US" sz="1300" dirty="0"/>
          </a:p>
          <a:p>
            <a:pPr algn="l" marL="342900" indent="-3429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Storage: 500 MB free disk space</a:t>
            </a:r>
            <a:endParaRPr lang="en-US" sz="1300" dirty="0"/>
          </a:p>
          <a:p>
            <a:pPr algn="l" marL="342900" indent="-3429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Display: 1024×768 or higher</a:t>
            </a:r>
            <a:endParaRPr lang="en-US" sz="1300" dirty="0"/>
          </a:p>
          <a:p>
            <a:pPr algn="l" marL="342900" indent="-3429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System: Windows / Linux / macOS</a:t>
            </a:r>
            <a:endParaRPr lang="en-US" sz="1300" dirty="0"/>
          </a:p>
        </p:txBody>
      </p:sp>
      <p:sp>
        <p:nvSpPr>
          <p:cNvPr id="9" name="Shape 6"/>
          <p:cNvSpPr/>
          <p:nvPr/>
        </p:nvSpPr>
        <p:spPr>
          <a:xfrm>
            <a:off x="4663440" y="1097280"/>
            <a:ext cx="4023360" cy="3474720"/>
          </a:xfrm>
          <a:prstGeom prst="roundRect">
            <a:avLst>
              <a:gd name="adj" fmla="val 2105"/>
            </a:avLst>
          </a:prstGeom>
          <a:solidFill>
            <a:srgbClr val="FFFFFF"/>
          </a:solidFill>
          <a:ln w="12700">
            <a:solidFill>
              <a:srgbClr val="E6DADA"/>
            </a:solidFill>
            <a:prstDash val="solid"/>
          </a:ln>
        </p:spPr>
      </p:sp>
      <p:sp>
        <p:nvSpPr>
          <p:cNvPr id="10" name="Text 7"/>
          <p:cNvSpPr txBox="1"/>
          <p:nvPr/>
        </p:nvSpPr>
        <p:spPr>
          <a:xfrm>
            <a:off x="4892040" y="1234440"/>
            <a:ext cx="3566160" cy="274320"/>
          </a:xfrm>
          <a:prstGeom prst="rect">
            <a:avLst/>
          </a:prstGeom>
          <a:noFill/>
          <a:ln/>
        </p:spPr>
        <p:txBody>
          <a:bodyPr wrap="square" lIns="0" tIns="0" rIns="0" bIns="0" rtlCol="0" anchor="ctr"/>
          <a:lstStyle/>
          <a:p>
            <a:pPr indent="0" marL="0">
              <a:buNone/>
            </a:pPr>
            <a:r>
              <a:rPr lang="en-US" sz="1400" b="1" dirty="0">
                <a:solidFill>
                  <a:srgbClr val="C00000"/>
                </a:solidFill>
                <a:latin typeface="Calibri" pitchFamily="34" charset="0"/>
                <a:ea typeface="Calibri" pitchFamily="34" charset="-122"/>
                <a:cs typeface="Calibri" pitchFamily="34" charset="-120"/>
              </a:rPr>
              <a:t>Software</a:t>
            </a:r>
            <a:endParaRPr lang="en-US" sz="1400" dirty="0"/>
          </a:p>
        </p:txBody>
      </p:sp>
      <p:sp>
        <p:nvSpPr>
          <p:cNvPr id="11" name="Text 8"/>
          <p:cNvSpPr txBox="1"/>
          <p:nvPr/>
        </p:nvSpPr>
        <p:spPr>
          <a:xfrm>
            <a:off x="4892040" y="1691640"/>
            <a:ext cx="3566160" cy="2743200"/>
          </a:xfrm>
          <a:prstGeom prst="rect">
            <a:avLst/>
          </a:prstGeom>
          <a:noFill/>
          <a:ln/>
        </p:spPr>
        <p:txBody>
          <a:bodyPr wrap="square" lIns="0" tIns="0" rIns="0" bIns="0" rtlCol="0" anchor="t"/>
          <a:lstStyle/>
          <a:p>
            <a:pPr algn="l" marL="342900" indent="-3429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OS: Windows 10/11, Linux (Ubuntu) or macOS</a:t>
            </a:r>
            <a:endParaRPr lang="en-US" sz="1300" dirty="0"/>
          </a:p>
          <a:p>
            <a:pPr algn="l" marL="342900" indent="-3429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Language: Java (console program, JDK 11+)</a:t>
            </a:r>
            <a:endParaRPr lang="en-US" sz="1300" dirty="0"/>
          </a:p>
          <a:p>
            <a:pPr algn="l" marL="342900" indent="-3429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Web visualizer: HTML, CSS, JavaScript</a:t>
            </a:r>
            <a:endParaRPr lang="en-US" sz="1300" dirty="0"/>
          </a:p>
          <a:p>
            <a:pPr algn="l" marL="342900" indent="-3429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Editor: VS Code with Live Server</a:t>
            </a:r>
            <a:endParaRPr lang="en-US" sz="1300" dirty="0"/>
          </a:p>
          <a:p>
            <a:pPr algn="l" marL="342900" indent="-3429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Version control: Git / GitHub</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C00000"/>
        </a:solidFill>
      </p:bgPr>
    </p:bg>
    <p:spTree>
      <p:nvGrpSpPr>
        <p:cNvPr id="1" name=""/>
        <p:cNvGrpSpPr/>
        <p:nvPr/>
      </p:nvGrpSpPr>
      <p:grpSpPr>
        <a:xfrm>
          <a:off x="0" y="0"/>
          <a:ext cx="0" cy="0"/>
          <a:chOff x="0" y="0"/>
          <a:chExt cx="0" cy="0"/>
        </a:xfrm>
      </p:grpSpPr>
      <p:sp>
        <p:nvSpPr>
          <p:cNvPr id="2" name="Text 0"/>
          <p:cNvSpPr txBox="1"/>
          <p:nvPr/>
        </p:nvSpPr>
        <p:spPr>
          <a:xfrm>
            <a:off x="457200" y="274320"/>
            <a:ext cx="694944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Conclusion</a:t>
            </a:r>
            <a:endParaRPr lang="en-US" sz="2800" dirty="0"/>
          </a:p>
        </p:txBody>
      </p:sp>
      <p:sp>
        <p:nvSpPr>
          <p:cNvPr id="3" name="Text 1"/>
          <p:cNvSpPr txBox="1"/>
          <p:nvPr/>
        </p:nvSpPr>
        <p:spPr>
          <a:xfrm>
            <a:off x="640080" y="1097280"/>
            <a:ext cx="7863840" cy="3474720"/>
          </a:xfrm>
          <a:prstGeom prst="rect">
            <a:avLst/>
          </a:prstGeom>
          <a:noFill/>
          <a:ln/>
        </p:spPr>
        <p:txBody>
          <a:bodyPr wrap="square" lIns="0" tIns="0" rIns="0" bIns="0" rtlCol="0" anchor="t"/>
          <a:lstStyle/>
          <a:p>
            <a:pPr algn="just" indent="0" marL="0">
              <a:buNone/>
            </a:pPr>
            <a:r>
              <a:rPr lang="en-US" sz="1500" dirty="0">
                <a:solidFill>
                  <a:srgbClr val="FFFFFF"/>
                </a:solidFill>
                <a:latin typeface="Calibri" pitchFamily="34" charset="0"/>
                <a:ea typeface="Calibri" pitchFamily="34" charset="-122"/>
                <a:cs typeface="Calibri" pitchFamily="34" charset="-120"/>
              </a:rPr>
              <a:t>The project demonstrates construction of both the suffix array and the LCP array, highlighting their importance in efficient string processing. With Kasai’s algorithm the LCP array is computed in linear time, a significant improvement over the naive quadratic approach.</a:t>
            </a:r>
            <a:endParaRPr lang="en-US" sz="1500" dirty="0"/>
          </a:p>
          <a:p>
            <a:pPr algn="just" indent="0" marL="0">
              <a:buNone/>
            </a:pPr>
            <a:endParaRPr lang="en-US" sz="1500" dirty="0"/>
          </a:p>
          <a:p>
            <a:pPr algn="just" indent="0" marL="0">
              <a:buNone/>
            </a:pPr>
            <a:r>
              <a:rPr lang="en-US" sz="1500" dirty="0">
                <a:solidFill>
                  <a:srgbClr val="FFFFFF"/>
                </a:solidFill>
                <a:latin typeface="Calibri" pitchFamily="34" charset="0"/>
                <a:ea typeface="Calibri" pitchFamily="34" charset="-122"/>
                <a:cs typeface="Calibri" pitchFamily="34" charset="-120"/>
              </a:rPr>
              <a:t>The measured results show that the optimized method scales well with larger inputs, making it practical for data compression, text analytics, search engines and bioinformatics. Visualization of both arrays adds educational value alongside the performance benefits.</a:t>
            </a:r>
            <a:endParaRPr lang="en-US" sz="1500" dirty="0"/>
          </a:p>
          <a:p>
            <a:pPr algn="just" indent="0" marL="0">
              <a:buNone/>
            </a:pPr>
            <a:endParaRPr lang="en-US" sz="1500" dirty="0"/>
          </a:p>
          <a:p>
            <a:pPr algn="just" indent="0" marL="0">
              <a:buNone/>
            </a:pPr>
            <a:r>
              <a:rPr lang="en-US" sz="1500" dirty="0">
                <a:solidFill>
                  <a:srgbClr val="FFFFFF"/>
                </a:solidFill>
                <a:latin typeface="Calibri" pitchFamily="34" charset="0"/>
                <a:ea typeface="Calibri" pitchFamily="34" charset="-122"/>
                <a:cs typeface="Calibri" pitchFamily="34" charset="-120"/>
              </a:rPr>
              <a:t>Overall, the project shows how advanced data structures and algorithms reduce computational overhead and enable faster, more reliable substring queries.</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6949440" cy="548640"/>
          </a:xfrm>
          <a:prstGeom prst="rect">
            <a:avLst/>
          </a:prstGeom>
          <a:noFill/>
          <a:ln/>
        </p:spPr>
        <p:txBody>
          <a:bodyPr wrap="square" lIns="0" tIns="0" rIns="0" bIns="0" rtlCol="0" anchor="ctr"/>
          <a:lstStyle/>
          <a:p>
            <a:pPr indent="0" marL="0">
              <a:buNone/>
            </a:pPr>
            <a:r>
              <a:rPr lang="en-US" sz="2800" b="1" dirty="0">
                <a:solidFill>
                  <a:srgbClr val="C00000"/>
                </a:solidFill>
                <a:latin typeface="Cambria" pitchFamily="34" charset="0"/>
                <a:ea typeface="Cambria" pitchFamily="34" charset="-122"/>
                <a:cs typeface="Cambria" pitchFamily="34" charset="-120"/>
              </a:rPr>
              <a:t>Future Scope</a:t>
            </a:r>
            <a:endParaRPr lang="en-US" sz="2800" dirty="0"/>
          </a:p>
        </p:txBody>
      </p:sp>
      <p:pic>
        <p:nvPicPr>
          <p:cNvPr id="3" name="Image 0" descr="logo-000.jpg">    </p:cNvPr>
          <p:cNvPicPr>
            <a:picLocks noChangeAspect="1"/>
          </p:cNvPicPr>
          <p:nvPr/>
        </p:nvPicPr>
        <p:blipFill>
          <a:blip r:embed="rId1"/>
          <a:stretch>
            <a:fillRect/>
          </a:stretch>
        </p:blipFill>
        <p:spPr>
          <a:xfrm>
            <a:off x="7772400" y="256032"/>
            <a:ext cx="914400" cy="393192"/>
          </a:xfrm>
          <a:prstGeom prst="rect">
            <a:avLst/>
          </a:prstGeom>
        </p:spPr>
      </p:pic>
      <p:sp>
        <p:nvSpPr>
          <p:cNvPr id="4" name="Text 1"/>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DSA-3 • LCP Array Using Suffix Arrays</a:t>
            </a:r>
            <a:endParaRPr lang="en-US" sz="900" dirty="0"/>
          </a:p>
        </p:txBody>
      </p:sp>
      <p:sp>
        <p:nvSpPr>
          <p:cNvPr id="5" name="Text 2"/>
          <p:cNvSpPr txBox="1"/>
          <p:nvPr/>
        </p:nvSpPr>
        <p:spPr>
          <a:xfrm>
            <a:off x="8138160" y="4800600"/>
            <a:ext cx="548640" cy="22860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13</a:t>
            </a:r>
            <a:endParaRPr lang="en-US" sz="900" dirty="0"/>
          </a:p>
        </p:txBody>
      </p:sp>
      <p:sp>
        <p:nvSpPr>
          <p:cNvPr id="6" name="Shape 3"/>
          <p:cNvSpPr/>
          <p:nvPr/>
        </p:nvSpPr>
        <p:spPr>
          <a:xfrm>
            <a:off x="457200" y="1097280"/>
            <a:ext cx="2651760" cy="1600200"/>
          </a:xfrm>
          <a:prstGeom prst="roundRect">
            <a:avLst>
              <a:gd name="adj" fmla="val 4571"/>
            </a:avLst>
          </a:prstGeom>
          <a:solidFill>
            <a:srgbClr val="FFFFFF"/>
          </a:solidFill>
          <a:ln w="12700">
            <a:solidFill>
              <a:srgbClr val="E6DADA"/>
            </a:solidFill>
            <a:prstDash val="solid"/>
          </a:ln>
        </p:spPr>
      </p:sp>
      <p:sp>
        <p:nvSpPr>
          <p:cNvPr id="7" name="Text 4"/>
          <p:cNvSpPr txBox="1"/>
          <p:nvPr/>
        </p:nvSpPr>
        <p:spPr>
          <a:xfrm>
            <a:off x="594360" y="1207008"/>
            <a:ext cx="2377440" cy="274320"/>
          </a:xfrm>
          <a:prstGeom prst="rect">
            <a:avLst/>
          </a:prstGeom>
          <a:noFill/>
          <a:ln/>
        </p:spPr>
        <p:txBody>
          <a:bodyPr wrap="square" lIns="0" tIns="0" rIns="0" bIns="0" rtlCol="0" anchor="ctr"/>
          <a:lstStyle/>
          <a:p>
            <a:pPr indent="0" marL="0">
              <a:buNone/>
            </a:pPr>
            <a:r>
              <a:rPr lang="en-US" sz="1400" b="1" dirty="0">
                <a:solidFill>
                  <a:srgbClr val="C00000"/>
                </a:solidFill>
                <a:latin typeface="Calibri" pitchFamily="34" charset="0"/>
                <a:ea typeface="Calibri" pitchFamily="34" charset="-122"/>
                <a:cs typeface="Calibri" pitchFamily="34" charset="-120"/>
              </a:rPr>
              <a:t>Advanced Structures</a:t>
            </a:r>
            <a:endParaRPr lang="en-US" sz="1400" dirty="0"/>
          </a:p>
        </p:txBody>
      </p:sp>
      <p:sp>
        <p:nvSpPr>
          <p:cNvPr id="8" name="Text 5"/>
          <p:cNvSpPr txBox="1"/>
          <p:nvPr/>
        </p:nvSpPr>
        <p:spPr>
          <a:xfrm>
            <a:off x="594360" y="1645920"/>
            <a:ext cx="2377440" cy="960120"/>
          </a:xfrm>
          <a:prstGeom prst="rect">
            <a:avLst/>
          </a:prstGeom>
          <a:noFill/>
          <a:ln/>
        </p:spPr>
        <p:txBody>
          <a:bodyPr wrap="square" lIns="0" tIns="0" rIns="0" bIns="0" rtlCol="0" anchor="t"/>
          <a:lstStyle/>
          <a:p>
            <a:pPr algn="just" indent="0" marL="0">
              <a:buNone/>
            </a:pPr>
            <a:r>
              <a:rPr lang="en-US" sz="1150" dirty="0">
                <a:solidFill>
                  <a:srgbClr val="2B2B2B"/>
                </a:solidFill>
                <a:latin typeface="Calibri" pitchFamily="34" charset="0"/>
                <a:ea typeface="Calibri" pitchFamily="34" charset="-122"/>
                <a:cs typeface="Calibri" pitchFamily="34" charset="-120"/>
              </a:rPr>
              <a:t>Suffix trees or suffix automata for faster substring queries</a:t>
            </a:r>
            <a:endParaRPr lang="en-US" sz="1150" dirty="0"/>
          </a:p>
        </p:txBody>
      </p:sp>
      <p:sp>
        <p:nvSpPr>
          <p:cNvPr id="9" name="Shape 6"/>
          <p:cNvSpPr/>
          <p:nvPr/>
        </p:nvSpPr>
        <p:spPr>
          <a:xfrm>
            <a:off x="3291840" y="1097280"/>
            <a:ext cx="2651760" cy="1600200"/>
          </a:xfrm>
          <a:prstGeom prst="roundRect">
            <a:avLst>
              <a:gd name="adj" fmla="val 4571"/>
            </a:avLst>
          </a:prstGeom>
          <a:solidFill>
            <a:srgbClr val="FFFFFF"/>
          </a:solidFill>
          <a:ln w="12700">
            <a:solidFill>
              <a:srgbClr val="E6DADA"/>
            </a:solidFill>
            <a:prstDash val="solid"/>
          </a:ln>
        </p:spPr>
      </p:sp>
      <p:sp>
        <p:nvSpPr>
          <p:cNvPr id="10" name="Text 7"/>
          <p:cNvSpPr txBox="1"/>
          <p:nvPr/>
        </p:nvSpPr>
        <p:spPr>
          <a:xfrm>
            <a:off x="3429000" y="1207008"/>
            <a:ext cx="2377440" cy="274320"/>
          </a:xfrm>
          <a:prstGeom prst="rect">
            <a:avLst/>
          </a:prstGeom>
          <a:noFill/>
          <a:ln/>
        </p:spPr>
        <p:txBody>
          <a:bodyPr wrap="square" lIns="0" tIns="0" rIns="0" bIns="0" rtlCol="0" anchor="ctr"/>
          <a:lstStyle/>
          <a:p>
            <a:pPr indent="0" marL="0">
              <a:buNone/>
            </a:pPr>
            <a:r>
              <a:rPr lang="en-US" sz="1400" b="1" dirty="0">
                <a:solidFill>
                  <a:srgbClr val="C00000"/>
                </a:solidFill>
                <a:latin typeface="Calibri" pitchFamily="34" charset="0"/>
                <a:ea typeface="Calibri" pitchFamily="34" charset="-122"/>
                <a:cs typeface="Calibri" pitchFamily="34" charset="-120"/>
              </a:rPr>
              <a:t>Faster Construction</a:t>
            </a:r>
            <a:endParaRPr lang="en-US" sz="1400" dirty="0"/>
          </a:p>
        </p:txBody>
      </p:sp>
      <p:sp>
        <p:nvSpPr>
          <p:cNvPr id="11" name="Text 8"/>
          <p:cNvSpPr txBox="1"/>
          <p:nvPr/>
        </p:nvSpPr>
        <p:spPr>
          <a:xfrm>
            <a:off x="3429000" y="1645920"/>
            <a:ext cx="2377440" cy="960120"/>
          </a:xfrm>
          <a:prstGeom prst="rect">
            <a:avLst/>
          </a:prstGeom>
          <a:noFill/>
          <a:ln/>
        </p:spPr>
        <p:txBody>
          <a:bodyPr wrap="square" lIns="0" tIns="0" rIns="0" bIns="0" rtlCol="0" anchor="t"/>
          <a:lstStyle/>
          <a:p>
            <a:pPr algn="just" indent="0" marL="0">
              <a:buNone/>
            </a:pPr>
            <a:r>
              <a:rPr lang="en-US" sz="1150" dirty="0">
                <a:solidFill>
                  <a:srgbClr val="2B2B2B"/>
                </a:solidFill>
                <a:latin typeface="Calibri" pitchFamily="34" charset="0"/>
                <a:ea typeface="Calibri" pitchFamily="34" charset="-122"/>
                <a:cs typeface="Calibri" pitchFamily="34" charset="-120"/>
              </a:rPr>
              <a:t>O(n log n) or linear suffix array construction instead of substring sorting</a:t>
            </a:r>
            <a:endParaRPr lang="en-US" sz="1150" dirty="0"/>
          </a:p>
        </p:txBody>
      </p:sp>
      <p:sp>
        <p:nvSpPr>
          <p:cNvPr id="12" name="Shape 9"/>
          <p:cNvSpPr/>
          <p:nvPr/>
        </p:nvSpPr>
        <p:spPr>
          <a:xfrm>
            <a:off x="6126480" y="1097280"/>
            <a:ext cx="2651760" cy="1600200"/>
          </a:xfrm>
          <a:prstGeom prst="roundRect">
            <a:avLst>
              <a:gd name="adj" fmla="val 4571"/>
            </a:avLst>
          </a:prstGeom>
          <a:solidFill>
            <a:srgbClr val="FFFFFF"/>
          </a:solidFill>
          <a:ln w="12700">
            <a:solidFill>
              <a:srgbClr val="E6DADA"/>
            </a:solidFill>
            <a:prstDash val="solid"/>
          </a:ln>
        </p:spPr>
      </p:sp>
      <p:sp>
        <p:nvSpPr>
          <p:cNvPr id="13" name="Text 10"/>
          <p:cNvSpPr txBox="1"/>
          <p:nvPr/>
        </p:nvSpPr>
        <p:spPr>
          <a:xfrm>
            <a:off x="6263640" y="1207008"/>
            <a:ext cx="2377440" cy="274320"/>
          </a:xfrm>
          <a:prstGeom prst="rect">
            <a:avLst/>
          </a:prstGeom>
          <a:noFill/>
          <a:ln/>
        </p:spPr>
        <p:txBody>
          <a:bodyPr wrap="square" lIns="0" tIns="0" rIns="0" bIns="0" rtlCol="0" anchor="ctr"/>
          <a:lstStyle/>
          <a:p>
            <a:pPr indent="0" marL="0">
              <a:buNone/>
            </a:pPr>
            <a:r>
              <a:rPr lang="en-US" sz="1400" b="1" dirty="0">
                <a:solidFill>
                  <a:srgbClr val="C00000"/>
                </a:solidFill>
                <a:latin typeface="Calibri" pitchFamily="34" charset="0"/>
                <a:ea typeface="Calibri" pitchFamily="34" charset="-122"/>
                <a:cs typeface="Calibri" pitchFamily="34" charset="-120"/>
              </a:rPr>
              <a:t>Bioinformatics</a:t>
            </a:r>
            <a:endParaRPr lang="en-US" sz="1400" dirty="0"/>
          </a:p>
        </p:txBody>
      </p:sp>
      <p:sp>
        <p:nvSpPr>
          <p:cNvPr id="14" name="Text 11"/>
          <p:cNvSpPr txBox="1"/>
          <p:nvPr/>
        </p:nvSpPr>
        <p:spPr>
          <a:xfrm>
            <a:off x="6263640" y="1645920"/>
            <a:ext cx="2377440" cy="960120"/>
          </a:xfrm>
          <a:prstGeom prst="rect">
            <a:avLst/>
          </a:prstGeom>
          <a:noFill/>
          <a:ln/>
        </p:spPr>
        <p:txBody>
          <a:bodyPr wrap="square" lIns="0" tIns="0" rIns="0" bIns="0" rtlCol="0" anchor="t"/>
          <a:lstStyle/>
          <a:p>
            <a:pPr algn="just" indent="0" marL="0">
              <a:buNone/>
            </a:pPr>
            <a:r>
              <a:rPr lang="en-US" sz="1150" dirty="0">
                <a:solidFill>
                  <a:srgbClr val="2B2B2B"/>
                </a:solidFill>
                <a:latin typeface="Calibri" pitchFamily="34" charset="0"/>
                <a:ea typeface="Calibri" pitchFamily="34" charset="-122"/>
                <a:cs typeface="Calibri" pitchFamily="34" charset="-120"/>
              </a:rPr>
              <a:t>LCP arrays on DNA and protein sequences to find repeated patterns</a:t>
            </a:r>
            <a:endParaRPr lang="en-US" sz="1150" dirty="0"/>
          </a:p>
        </p:txBody>
      </p:sp>
      <p:sp>
        <p:nvSpPr>
          <p:cNvPr id="15" name="Shape 12"/>
          <p:cNvSpPr/>
          <p:nvPr/>
        </p:nvSpPr>
        <p:spPr>
          <a:xfrm>
            <a:off x="457200" y="2880360"/>
            <a:ext cx="2651760" cy="1600200"/>
          </a:xfrm>
          <a:prstGeom prst="roundRect">
            <a:avLst>
              <a:gd name="adj" fmla="val 4571"/>
            </a:avLst>
          </a:prstGeom>
          <a:solidFill>
            <a:srgbClr val="FFFFFF"/>
          </a:solidFill>
          <a:ln w="12700">
            <a:solidFill>
              <a:srgbClr val="E6DADA"/>
            </a:solidFill>
            <a:prstDash val="solid"/>
          </a:ln>
        </p:spPr>
      </p:sp>
      <p:sp>
        <p:nvSpPr>
          <p:cNvPr id="16" name="Text 13"/>
          <p:cNvSpPr txBox="1"/>
          <p:nvPr/>
        </p:nvSpPr>
        <p:spPr>
          <a:xfrm>
            <a:off x="594360" y="2990088"/>
            <a:ext cx="2377440" cy="274320"/>
          </a:xfrm>
          <a:prstGeom prst="rect">
            <a:avLst/>
          </a:prstGeom>
          <a:noFill/>
          <a:ln/>
        </p:spPr>
        <p:txBody>
          <a:bodyPr wrap="square" lIns="0" tIns="0" rIns="0" bIns="0" rtlCol="0" anchor="ctr"/>
          <a:lstStyle/>
          <a:p>
            <a:pPr indent="0" marL="0">
              <a:buNone/>
            </a:pPr>
            <a:r>
              <a:rPr lang="en-US" sz="1400" b="1" dirty="0">
                <a:solidFill>
                  <a:srgbClr val="C00000"/>
                </a:solidFill>
                <a:latin typeface="Calibri" pitchFamily="34" charset="0"/>
                <a:ea typeface="Calibri" pitchFamily="34" charset="-122"/>
                <a:cs typeface="Calibri" pitchFamily="34" charset="-120"/>
              </a:rPr>
              <a:t>Search Engines</a:t>
            </a:r>
            <a:endParaRPr lang="en-US" sz="1400" dirty="0"/>
          </a:p>
        </p:txBody>
      </p:sp>
      <p:sp>
        <p:nvSpPr>
          <p:cNvPr id="17" name="Text 14"/>
          <p:cNvSpPr txBox="1"/>
          <p:nvPr/>
        </p:nvSpPr>
        <p:spPr>
          <a:xfrm>
            <a:off x="594360" y="3429000"/>
            <a:ext cx="2377440" cy="960120"/>
          </a:xfrm>
          <a:prstGeom prst="rect">
            <a:avLst/>
          </a:prstGeom>
          <a:noFill/>
          <a:ln/>
        </p:spPr>
        <p:txBody>
          <a:bodyPr wrap="square" lIns="0" tIns="0" rIns="0" bIns="0" rtlCol="0" anchor="t"/>
          <a:lstStyle/>
          <a:p>
            <a:pPr algn="just" indent="0" marL="0">
              <a:buNone/>
            </a:pPr>
            <a:r>
              <a:rPr lang="en-US" sz="1150" dirty="0">
                <a:solidFill>
                  <a:srgbClr val="2B2B2B"/>
                </a:solidFill>
                <a:latin typeface="Calibri" pitchFamily="34" charset="0"/>
                <a:ea typeface="Calibri" pitchFamily="34" charset="-122"/>
                <a:cs typeface="Calibri" pitchFamily="34" charset="-120"/>
              </a:rPr>
              <a:t>Suffix and LCP arrays for indexing and quicker query response</a:t>
            </a:r>
            <a:endParaRPr lang="en-US" sz="1150" dirty="0"/>
          </a:p>
        </p:txBody>
      </p:sp>
      <p:sp>
        <p:nvSpPr>
          <p:cNvPr id="18" name="Shape 15"/>
          <p:cNvSpPr/>
          <p:nvPr/>
        </p:nvSpPr>
        <p:spPr>
          <a:xfrm>
            <a:off x="3291840" y="2880360"/>
            <a:ext cx="2651760" cy="1600200"/>
          </a:xfrm>
          <a:prstGeom prst="roundRect">
            <a:avLst>
              <a:gd name="adj" fmla="val 4571"/>
            </a:avLst>
          </a:prstGeom>
          <a:solidFill>
            <a:srgbClr val="FFFFFF"/>
          </a:solidFill>
          <a:ln w="12700">
            <a:solidFill>
              <a:srgbClr val="E6DADA"/>
            </a:solidFill>
            <a:prstDash val="solid"/>
          </a:ln>
        </p:spPr>
      </p:sp>
      <p:sp>
        <p:nvSpPr>
          <p:cNvPr id="19" name="Text 16"/>
          <p:cNvSpPr txBox="1"/>
          <p:nvPr/>
        </p:nvSpPr>
        <p:spPr>
          <a:xfrm>
            <a:off x="3429000" y="2990088"/>
            <a:ext cx="2377440" cy="274320"/>
          </a:xfrm>
          <a:prstGeom prst="rect">
            <a:avLst/>
          </a:prstGeom>
          <a:noFill/>
          <a:ln/>
        </p:spPr>
        <p:txBody>
          <a:bodyPr wrap="square" lIns="0" tIns="0" rIns="0" bIns="0" rtlCol="0" anchor="ctr"/>
          <a:lstStyle/>
          <a:p>
            <a:pPr indent="0" marL="0">
              <a:buNone/>
            </a:pPr>
            <a:r>
              <a:rPr lang="en-US" sz="1400" b="1" dirty="0">
                <a:solidFill>
                  <a:srgbClr val="C00000"/>
                </a:solidFill>
                <a:latin typeface="Calibri" pitchFamily="34" charset="0"/>
                <a:ea typeface="Calibri" pitchFamily="34" charset="-122"/>
                <a:cs typeface="Calibri" pitchFamily="34" charset="-120"/>
              </a:rPr>
              <a:t>Compression</a:t>
            </a:r>
            <a:endParaRPr lang="en-US" sz="1400" dirty="0"/>
          </a:p>
        </p:txBody>
      </p:sp>
      <p:sp>
        <p:nvSpPr>
          <p:cNvPr id="20" name="Text 17"/>
          <p:cNvSpPr txBox="1"/>
          <p:nvPr/>
        </p:nvSpPr>
        <p:spPr>
          <a:xfrm>
            <a:off x="3429000" y="3429000"/>
            <a:ext cx="2377440" cy="960120"/>
          </a:xfrm>
          <a:prstGeom prst="rect">
            <a:avLst/>
          </a:prstGeom>
          <a:noFill/>
          <a:ln/>
        </p:spPr>
        <p:txBody>
          <a:bodyPr wrap="square" lIns="0" tIns="0" rIns="0" bIns="0" rtlCol="0" anchor="t"/>
          <a:lstStyle/>
          <a:p>
            <a:pPr algn="just" indent="0" marL="0">
              <a:buNone/>
            </a:pPr>
            <a:r>
              <a:rPr lang="en-US" sz="1150" dirty="0">
                <a:solidFill>
                  <a:srgbClr val="2B2B2B"/>
                </a:solidFill>
                <a:latin typeface="Calibri" pitchFamily="34" charset="0"/>
                <a:ea typeface="Calibri" pitchFamily="34" charset="-122"/>
                <a:cs typeface="Calibri" pitchFamily="34" charset="-120"/>
              </a:rPr>
              <a:t>Extend to Burrows–Wheeler Transform and LZ77</a:t>
            </a:r>
            <a:endParaRPr lang="en-US" sz="1150" dirty="0"/>
          </a:p>
        </p:txBody>
      </p:sp>
      <p:sp>
        <p:nvSpPr>
          <p:cNvPr id="21" name="Shape 18"/>
          <p:cNvSpPr/>
          <p:nvPr/>
        </p:nvSpPr>
        <p:spPr>
          <a:xfrm>
            <a:off x="6126480" y="2880360"/>
            <a:ext cx="2651760" cy="1600200"/>
          </a:xfrm>
          <a:prstGeom prst="roundRect">
            <a:avLst>
              <a:gd name="adj" fmla="val 4571"/>
            </a:avLst>
          </a:prstGeom>
          <a:solidFill>
            <a:srgbClr val="FFFFFF"/>
          </a:solidFill>
          <a:ln w="12700">
            <a:solidFill>
              <a:srgbClr val="E6DADA"/>
            </a:solidFill>
            <a:prstDash val="solid"/>
          </a:ln>
        </p:spPr>
      </p:sp>
      <p:sp>
        <p:nvSpPr>
          <p:cNvPr id="22" name="Text 19"/>
          <p:cNvSpPr txBox="1"/>
          <p:nvPr/>
        </p:nvSpPr>
        <p:spPr>
          <a:xfrm>
            <a:off x="6263640" y="2990088"/>
            <a:ext cx="2377440" cy="274320"/>
          </a:xfrm>
          <a:prstGeom prst="rect">
            <a:avLst/>
          </a:prstGeom>
          <a:noFill/>
          <a:ln/>
        </p:spPr>
        <p:txBody>
          <a:bodyPr wrap="square" lIns="0" tIns="0" rIns="0" bIns="0" rtlCol="0" anchor="ctr"/>
          <a:lstStyle/>
          <a:p>
            <a:pPr indent="0" marL="0">
              <a:buNone/>
            </a:pPr>
            <a:r>
              <a:rPr lang="en-US" sz="1400" b="1" dirty="0">
                <a:solidFill>
                  <a:srgbClr val="C00000"/>
                </a:solidFill>
                <a:latin typeface="Calibri" pitchFamily="34" charset="0"/>
                <a:ea typeface="Calibri" pitchFamily="34" charset="-122"/>
                <a:cs typeface="Calibri" pitchFamily="34" charset="-120"/>
              </a:rPr>
              <a:t>Parallel Computing &amp; Visualization</a:t>
            </a:r>
            <a:endParaRPr lang="en-US" sz="1400" dirty="0"/>
          </a:p>
        </p:txBody>
      </p:sp>
      <p:sp>
        <p:nvSpPr>
          <p:cNvPr id="23" name="Text 20"/>
          <p:cNvSpPr txBox="1"/>
          <p:nvPr/>
        </p:nvSpPr>
        <p:spPr>
          <a:xfrm>
            <a:off x="6263640" y="3429000"/>
            <a:ext cx="2377440" cy="960120"/>
          </a:xfrm>
          <a:prstGeom prst="rect">
            <a:avLst/>
          </a:prstGeom>
          <a:noFill/>
          <a:ln/>
        </p:spPr>
        <p:txBody>
          <a:bodyPr wrap="square" lIns="0" tIns="0" rIns="0" bIns="0" rtlCol="0" anchor="t"/>
          <a:lstStyle/>
          <a:p>
            <a:pPr algn="just" indent="0" marL="0">
              <a:buNone/>
            </a:pPr>
            <a:r>
              <a:rPr lang="en-US" sz="1150" dirty="0">
                <a:solidFill>
                  <a:srgbClr val="2B2B2B"/>
                </a:solidFill>
                <a:latin typeface="Calibri" pitchFamily="34" charset="0"/>
                <a:ea typeface="Calibri" pitchFamily="34" charset="-122"/>
                <a:cs typeface="Calibri" pitchFamily="34" charset="-120"/>
              </a:rPr>
              <a:t>Parallel construction for massive datasets and richer interactive visualizers</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C00000"/>
        </a:solidFill>
      </p:bgPr>
    </p:bg>
    <p:spTree>
      <p:nvGrpSpPr>
        <p:cNvPr id="1" name=""/>
        <p:cNvGrpSpPr/>
        <p:nvPr/>
      </p:nvGrpSpPr>
      <p:grpSpPr>
        <a:xfrm>
          <a:off x="0" y="0"/>
          <a:ext cx="0" cy="0"/>
          <a:chOff x="0" y="0"/>
          <a:chExt cx="0" cy="0"/>
        </a:xfrm>
      </p:grpSpPr>
      <p:sp>
        <p:nvSpPr>
          <p:cNvPr id="2" name="Text 0"/>
          <p:cNvSpPr txBox="1"/>
          <p:nvPr/>
        </p:nvSpPr>
        <p:spPr>
          <a:xfrm>
            <a:off x="457200" y="1828800"/>
            <a:ext cx="8229600" cy="1097280"/>
          </a:xfrm>
          <a:prstGeom prst="rect">
            <a:avLst/>
          </a:prstGeom>
          <a:noFill/>
          <a:ln/>
        </p:spPr>
        <p:txBody>
          <a:bodyPr wrap="square" lIns="0" tIns="0" rIns="0" bIns="0"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2026-10-01T09:52:00Z</dcterms:created>
  <dcterms:modified xsi:type="dcterms:W3CDTF">2026-10-01T09:52:00Z</dcterms:modified>
</cp:coreProperties>
</file>